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9e05d0d6644bf" /><Relationship Type="http://schemas.openxmlformats.org/officeDocument/2006/relationships/extended-properties" Target="/docProps/app.xml" Id="R7332a161589948e3" /><Relationship Type="http://schemas.openxmlformats.org/officeDocument/2006/relationships/officeDocument" Target="/ppt/presentation.xml" Id="R8c74ad96c0004b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27903c2654015"/>
  </p:sldMasterIdLst>
  <p:notesMasterIdLst>
    <p:notesMasterId xmlns:r="http://schemas.openxmlformats.org/officeDocument/2006/relationships" r:id="Rde5b97632cfe41a9"/>
  </p:notesMasterIdLst>
  <p:sldIdLst>
    <p:sldId xmlns:r="http://schemas.openxmlformats.org/officeDocument/2006/relationships" id="256" r:id="R41f9a708c44249dc"/>
    <p:sldId xmlns:r="http://schemas.openxmlformats.org/officeDocument/2006/relationships" id="257" r:id="R1603e6b54e7148a4"/>
    <p:sldId xmlns:r="http://schemas.openxmlformats.org/officeDocument/2006/relationships" id="258" r:id="Rffcc5eb6fea941ca"/>
    <p:sldId xmlns:r="http://schemas.openxmlformats.org/officeDocument/2006/relationships" id="259" r:id="R93b0fecc28284ab0"/>
    <p:sldId xmlns:r="http://schemas.openxmlformats.org/officeDocument/2006/relationships" id="260" r:id="R669b2121de1e4eaa"/>
    <p:sldId xmlns:r="http://schemas.openxmlformats.org/officeDocument/2006/relationships" id="261" r:id="R87d6953fe9664d26"/>
    <p:sldId xmlns:r="http://schemas.openxmlformats.org/officeDocument/2006/relationships" id="262" r:id="R3393758c6eed410d"/>
    <p:sldId xmlns:r="http://schemas.openxmlformats.org/officeDocument/2006/relationships" id="263" r:id="R1da63e77e6154ca7"/>
    <p:sldId xmlns:r="http://schemas.openxmlformats.org/officeDocument/2006/relationships" id="264" r:id="R1e33f210ad804300"/>
    <p:sldId xmlns:r="http://schemas.openxmlformats.org/officeDocument/2006/relationships" id="265" r:id="R3d9207866aa6463d"/>
    <p:sldId xmlns:r="http://schemas.openxmlformats.org/officeDocument/2006/relationships" id="266" r:id="Ra03962e260b4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cdad9006149bf" /><Relationship Type="http://schemas.openxmlformats.org/officeDocument/2006/relationships/slideMaster" Target="/ppt/slideMasters/slideMaster1.xml" Id="R55327903c2654015" /><Relationship Type="http://schemas.openxmlformats.org/officeDocument/2006/relationships/notesMaster" Target="/ppt/notesMasters/notesMaster1.xml" Id="Rde5b97632cfe41a9" /><Relationship Type="http://schemas.openxmlformats.org/officeDocument/2006/relationships/presProps" Target="/ppt/presProps.xml" Id="R040ea2acfe8e4ca7" /><Relationship Type="http://schemas.openxmlformats.org/officeDocument/2006/relationships/tableStyles" Target="/ppt/tableStyles.xml" Id="R4cfa8661d9474c57" /><Relationship Type="http://schemas.openxmlformats.org/officeDocument/2006/relationships/slide" Target="/ppt/slides/slide1.xml" Id="R41f9a708c44249dc" /><Relationship Type="http://schemas.openxmlformats.org/officeDocument/2006/relationships/slide" Target="/ppt/slides/slide2.xml" Id="R1603e6b54e7148a4" /><Relationship Type="http://schemas.openxmlformats.org/officeDocument/2006/relationships/slide" Target="/ppt/slides/slide3.xml" Id="Rffcc5eb6fea941ca" /><Relationship Type="http://schemas.openxmlformats.org/officeDocument/2006/relationships/slide" Target="/ppt/slides/slide4.xml" Id="R93b0fecc28284ab0" /><Relationship Type="http://schemas.openxmlformats.org/officeDocument/2006/relationships/slide" Target="/ppt/slides/slide5.xml" Id="R669b2121de1e4eaa" /><Relationship Type="http://schemas.openxmlformats.org/officeDocument/2006/relationships/slide" Target="/ppt/slides/slide6.xml" Id="R87d6953fe9664d26" /><Relationship Type="http://schemas.openxmlformats.org/officeDocument/2006/relationships/slide" Target="/ppt/slides/slide7.xml" Id="R3393758c6eed410d" /><Relationship Type="http://schemas.openxmlformats.org/officeDocument/2006/relationships/slide" Target="/ppt/slides/slide8.xml" Id="R1da63e77e6154ca7" /><Relationship Type="http://schemas.openxmlformats.org/officeDocument/2006/relationships/slide" Target="/ppt/slides/slide9.xml" Id="R1e33f210ad804300" /><Relationship Type="http://schemas.openxmlformats.org/officeDocument/2006/relationships/slide" Target="/ppt/slides/slide10.xml" Id="R3d9207866aa6463d" /><Relationship Type="http://schemas.openxmlformats.org/officeDocument/2006/relationships/slide" Target="/ppt/slides/slide11.xml" Id="Ra03962e260b4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f905277ae41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5adbe3ad0d44c6" /><Relationship Type="http://schemas.openxmlformats.org/officeDocument/2006/relationships/notesMaster" Target="/ppt/notesMasters/notesMaster1.xml" Id="R3a20c9f7d775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489c42d1c14dd1" /><Relationship Type="http://schemas.openxmlformats.org/officeDocument/2006/relationships/notesMaster" Target="/ppt/notesMasters/notesMaster1.xml" Id="R47c4b13c079a4e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2d8e89338436b" /><Relationship Type="http://schemas.openxmlformats.org/officeDocument/2006/relationships/notesMaster" Target="/ppt/notesMasters/notesMaster1.xml" Id="Rd70275a917a04c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c06f8893114f48" /><Relationship Type="http://schemas.openxmlformats.org/officeDocument/2006/relationships/notesMaster" Target="/ppt/notesMasters/notesMaster1.xml" Id="R9f50ecee8b8e4a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46b708781c4e6c" /><Relationship Type="http://schemas.openxmlformats.org/officeDocument/2006/relationships/notesMaster" Target="/ppt/notesMasters/notesMaster1.xml" Id="R97cda4ed63fd4e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43383539e43fe" /><Relationship Type="http://schemas.openxmlformats.org/officeDocument/2006/relationships/notesMaster" Target="/ppt/notesMasters/notesMaster1.xml" Id="R21fe9dbefe6b48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6a7b1d0ae4e46" /><Relationship Type="http://schemas.openxmlformats.org/officeDocument/2006/relationships/notesMaster" Target="/ppt/notesMasters/notesMaster1.xml" Id="R1be6a92279e740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53dffbf85a4d9b" /><Relationship Type="http://schemas.openxmlformats.org/officeDocument/2006/relationships/notesMaster" Target="/ppt/notesMasters/notesMaster1.xml" Id="Ra7d8376e063e46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8b4a420814acb" /><Relationship Type="http://schemas.openxmlformats.org/officeDocument/2006/relationships/notesMaster" Target="/ppt/notesMasters/notesMaster1.xml" Id="R8acd095bb6834a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56e178543e414d" /><Relationship Type="http://schemas.openxmlformats.org/officeDocument/2006/relationships/notesMaster" Target="/ppt/notesMasters/notesMaster1.xml" Id="Rc650cee5c1264a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abb7ba9cc4407b" /><Relationship Type="http://schemas.openxmlformats.org/officeDocument/2006/relationships/notesMaster" Target="/ppt/notesMasters/notesMaster1.xml" Id="R5685efaf16d2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f9a3697894d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28e6739eb40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c4c15bb6349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b34f9519c44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277e144c244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62f476a4c43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BC83AE-44F6-4077-839B-530AB552C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E438E6-8804-4480-BF75-3085286234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A0E8BF-BA23-45A6-8A8C-2DFC0DCA3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ECB3C2-1631-4DBD-A73E-93AC7B27C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8E3D24-1381-45B3-881B-CF86CD751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EEBA46-0C22-4F75-A330-567DE16C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AFEBE2-7B1F-4A64-9DB9-C573BA486C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DE0478-24F0-4DE9-B2EE-550AA05C50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D36972-6D74-4D2D-A2DF-69E94209E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F7A1BC-42E5-4AD8-8B5B-FA29EA4AD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bc19c1cbed4835" /><Relationship Type="http://schemas.openxmlformats.org/officeDocument/2006/relationships/slideLayout" Target="/ppt/slideLayouts/slideLayout1.xml" Id="R78710c8177674f8a" /><Relationship Type="http://schemas.openxmlformats.org/officeDocument/2006/relationships/slideLayout" Target="/ppt/slideLayouts/slideLayout2.xml" Id="R56aaae4045194767" /><Relationship Type="http://schemas.openxmlformats.org/officeDocument/2006/relationships/slideLayout" Target="/ppt/slideLayouts/slideLayout3.xml" Id="Rbfb40a7d5ca74ff9" /><Relationship Type="http://schemas.openxmlformats.org/officeDocument/2006/relationships/slideLayout" Target="/ppt/slideLayouts/slideLayout4.xml" Id="R6f0fc932fcf84d2d" /><Relationship Type="http://schemas.openxmlformats.org/officeDocument/2006/relationships/slideLayout" Target="/ppt/slideLayouts/slideLayout5.xml" Id="R8e438c04bdfc4d96" /><Relationship Type="http://schemas.openxmlformats.org/officeDocument/2006/relationships/slideLayout" Target="/ppt/slideLayouts/slideLayout6.xml" Id="Ra509f1be798d4f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10c8177674f8a"/>
    <p:sldLayoutId xmlns:r="http://schemas.openxmlformats.org/officeDocument/2006/relationships" id="2147483650" r:id="R56aaae4045194767"/>
    <p:sldLayoutId xmlns:r="http://schemas.openxmlformats.org/officeDocument/2006/relationships" id="2147483651" r:id="Rbfb40a7d5ca74ff9"/>
    <p:sldLayoutId xmlns:r="http://schemas.openxmlformats.org/officeDocument/2006/relationships" id="2147483652" r:id="R6f0fc932fcf84d2d"/>
    <p:sldLayoutId xmlns:r="http://schemas.openxmlformats.org/officeDocument/2006/relationships" id="2147483653" r:id="R8e438c04bdfc4d96"/>
    <p:sldLayoutId xmlns:r="http://schemas.openxmlformats.org/officeDocument/2006/relationships" id="2147483654" r:id="Ra509f1be798d4f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1f86d969294b29" /><Relationship Type="http://schemas.openxmlformats.org/officeDocument/2006/relationships/image" Target="/ppt/media/image.png" Id="R075a02fccc9d4ae8" /><Relationship Type="http://schemas.openxmlformats.org/officeDocument/2006/relationships/notesSlide" Target="/ppt/notesSlides/notesSlide1.xml" Id="Ref237b8f1f7f48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1cee027e64827" /><Relationship Type="http://schemas.openxmlformats.org/officeDocument/2006/relationships/notesSlide" Target="/ppt/notesSlides/notesSlide2.xml" Id="Rfad89833799f45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cb51b4cc24ad2" /><Relationship Type="http://schemas.openxmlformats.org/officeDocument/2006/relationships/image" Target="/ppt/media/image2.png" Id="R926b6f283cbf4e2d" /><Relationship Type="http://schemas.openxmlformats.org/officeDocument/2006/relationships/image" Target="/ppt/media/image3.png" Id="R2207855e457444c3" /><Relationship Type="http://schemas.openxmlformats.org/officeDocument/2006/relationships/notesSlide" Target="/ppt/notesSlides/notesSlide3.xml" Id="R694bd1c4427a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7be3b258744b4" /><Relationship Type="http://schemas.openxmlformats.org/officeDocument/2006/relationships/image" Target="/ppt/media/image4.png" Id="R140b2a9c930d4a80" /><Relationship Type="http://schemas.openxmlformats.org/officeDocument/2006/relationships/image" Target="/ppt/media/image5.png" Id="R85c9725764fb4fc1" /><Relationship Type="http://schemas.openxmlformats.org/officeDocument/2006/relationships/image" Target="/ppt/media/image6.png" Id="Re080c505f4274eb3" /><Relationship Type="http://schemas.openxmlformats.org/officeDocument/2006/relationships/notesSlide" Target="/ppt/notesSlides/notesSlide4.xml" Id="R7be08429649943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4f98af01441c5" /><Relationship Type="http://schemas.openxmlformats.org/officeDocument/2006/relationships/image" Target="/ppt/media/image7.png" Id="R65f0f5c65d224f26" /><Relationship Type="http://schemas.openxmlformats.org/officeDocument/2006/relationships/image" Target="/ppt/media/image8.png" Id="R1baed105454e4e69" /><Relationship Type="http://schemas.openxmlformats.org/officeDocument/2006/relationships/image" Target="/ppt/media/image9.png" Id="R71d1403739b64b4a" /><Relationship Type="http://schemas.openxmlformats.org/officeDocument/2006/relationships/image" Target="/ppt/media/image10.png" Id="Rb10ddb3540c74f5f" /><Relationship Type="http://schemas.openxmlformats.org/officeDocument/2006/relationships/image" Target="/ppt/media/image11.png" Id="R413fddd5e73d4fd8" /><Relationship Type="http://schemas.openxmlformats.org/officeDocument/2006/relationships/notesSlide" Target="/ppt/notesSlides/notesSlide5.xml" Id="R4d452668f62245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1b101597fb4d31" /><Relationship Type="http://schemas.openxmlformats.org/officeDocument/2006/relationships/image" Target="/ppt/media/image12.png" Id="R0eab1a62c0bd41ce" /><Relationship Type="http://schemas.openxmlformats.org/officeDocument/2006/relationships/image" Target="/ppt/media/image13.png" Id="R4182c9497a2c457e" /><Relationship Type="http://schemas.openxmlformats.org/officeDocument/2006/relationships/image" Target="/ppt/media/image14.png" Id="R74d818c19c09438d" /><Relationship Type="http://schemas.openxmlformats.org/officeDocument/2006/relationships/image" Target="/ppt/media/image15.png" Id="Rb8f7c2e753ee49d6" /><Relationship Type="http://schemas.openxmlformats.org/officeDocument/2006/relationships/image" Target="/ppt/media/image16.png" Id="R2599f8d2aabe4e7c" /><Relationship Type="http://schemas.openxmlformats.org/officeDocument/2006/relationships/notesSlide" Target="/ppt/notesSlides/notesSlide6.xml" Id="R13d260262dc24d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0c78153cb4ebb" /><Relationship Type="http://schemas.openxmlformats.org/officeDocument/2006/relationships/notesSlide" Target="/ppt/notesSlides/notesSlide7.xml" Id="R785936264156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dda6a1f77e46a4" /><Relationship Type="http://schemas.openxmlformats.org/officeDocument/2006/relationships/image" Target="/ppt/media/image17.png" Id="R1b86bca08e2c4a09" /><Relationship Type="http://schemas.openxmlformats.org/officeDocument/2006/relationships/image" Target="/ppt/media/image18.png" Id="Ra6fb589fa0294afd" /><Relationship Type="http://schemas.openxmlformats.org/officeDocument/2006/relationships/image" Target="/ppt/media/image19.png" Id="R142b0485377c4fe7" /><Relationship Type="http://schemas.openxmlformats.org/officeDocument/2006/relationships/image" Target="/ppt/media/image20.png" Id="Rbe542a56f5cd4cb5" /><Relationship Type="http://schemas.openxmlformats.org/officeDocument/2006/relationships/image" Target="/ppt/media/image21.png" Id="R4e66e40579764f7f" /><Relationship Type="http://schemas.openxmlformats.org/officeDocument/2006/relationships/image" Target="/ppt/media/image22.png" Id="R584c08afe3144c45" /><Relationship Type="http://schemas.openxmlformats.org/officeDocument/2006/relationships/image" Target="/ppt/media/image23.png" Id="R5743b9a52e9f4f9b" /><Relationship Type="http://schemas.openxmlformats.org/officeDocument/2006/relationships/image" Target="/ppt/media/image24.png" Id="R27e600eb03b844bb" /><Relationship Type="http://schemas.openxmlformats.org/officeDocument/2006/relationships/notesSlide" Target="/ppt/notesSlides/notesSlide8.xml" Id="Rb4a724dc323743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a0e5234ff43b8" /><Relationship Type="http://schemas.openxmlformats.org/officeDocument/2006/relationships/hyperlink" Target="https://github.com/arajung-hub/on-air-companion/blob/main/ANALYTICS.md" TargetMode="External" Id="R79d3ba0c22bc410f" /><Relationship Type="http://schemas.openxmlformats.org/officeDocument/2006/relationships/notesSlide" Target="/ppt/notesSlides/notesSlide9.xml" Id="R6cf857fdd6b0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414d001de4750" /><Relationship Type="http://schemas.openxmlformats.org/officeDocument/2006/relationships/notesSlide" Target="/ppt/notesSlides/notesSlide10.xml" Id="Re85a1628944a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db8b04e964cf8" /><Relationship Type="http://schemas.openxmlformats.org/officeDocument/2006/relationships/image" Target="/ppt/media/image25.png" Id="R681e630c809a49a4" /><Relationship Type="http://schemas.openxmlformats.org/officeDocument/2006/relationships/image" Target="/ppt/media/image26.png" Id="R184cd79b76554e82" /><Relationship Type="http://schemas.openxmlformats.org/officeDocument/2006/relationships/hyperlink" Target="https://on-air-companion-project.arajung50.chatgpt.site/media/demo-basic.mp4" TargetMode="External" Id="R8405bffa3bc84c1e" /><Relationship Type="http://schemas.openxmlformats.org/officeDocument/2006/relationships/hyperlink" Target="https://on-air-companion-project.arajung50.chatgpt.site/media/demo-animals.mp4" TargetMode="External" Id="R0507b3f6cf8444bd" /><Relationship Type="http://schemas.openxmlformats.org/officeDocument/2006/relationships/image" Target="/ppt/media/image27.png" Id="Rb0864ff996634772" /><Relationship Type="http://schemas.openxmlformats.org/officeDocument/2006/relationships/hyperlink" Target="https://github.com/arajung-hub/on-air-companion/releases/latest" TargetMode="External" Id="Ra8c0e7f1a3684bfb" /><Relationship Type="http://schemas.openxmlformats.org/officeDocument/2006/relationships/hyperlink" Target="https://github.com/arajung-hub/on-air-companion" TargetMode="External" Id="R711b71c3a82b4628" /><Relationship Type="http://schemas.openxmlformats.org/officeDocument/2006/relationships/hyperlink" Target="https://github.com/arajung-hub/on-air-companion/releases/latest" TargetMode="External" Id="R9fb0c5ec95854b09" /><Relationship Type="http://schemas.openxmlformats.org/officeDocument/2006/relationships/hyperlink" Target="https://supabase.com/dashboard/project/xhtjhqbdupltzmpdvuut/editor" TargetMode="External" Id="Rb809c104d61e4546" /><Relationship Type="http://schemas.openxmlformats.org/officeDocument/2006/relationships/notesSlide" Target="/ppt/notesSlides/notesSlide11.xml" Id="R85c2b4e211104f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ntro-text-1">
            <a:extLst xmlns:a="http://schemas.openxmlformats.org/drawingml/2006/main">
              <a:ext uri="{FF2B5EF4-FFF2-40B4-BE49-F238E27FC236}">
                <a16:creationId xmlns:a16="http://schemas.microsoft.com/office/drawing/2014/main" id="{B3218731-E9CD-4BFF-995B-F6950E7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050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GENERATIVE AI AND UX</a:t>
            </a:r>
          </a:p>
        </p:txBody>
      </p:sp>
      <p:sp>
        <p:nvSpPr>
          <p:cNvPr id="2" name="intro-text-2">
            <a:extLst xmlns:a="http://schemas.openxmlformats.org/drawingml/2006/main">
              <a:ext uri="{FF2B5EF4-FFF2-40B4-BE49-F238E27FC236}">
                <a16:creationId xmlns:a16="http://schemas.microsoft.com/office/drawing/2014/main" id="{499C6888-6866-43B5-9692-4EC87470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MINI PROJECT</a:t>
            </a:r>
          </a:p>
        </p:txBody>
      </p:sp>
      <p:sp>
        <p:nvSpPr>
          <p:cNvPr id="3" name="intro-text-3">
            <a:extLst xmlns:a="http://schemas.openxmlformats.org/drawingml/2006/main">
              <a:ext uri="{FF2B5EF4-FFF2-40B4-BE49-F238E27FC236}">
                <a16:creationId xmlns:a16="http://schemas.microsoft.com/office/drawing/2014/main" id="{80AF532A-A9A3-42B9-AE99-4E41FAC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>
            <a:defPPr algn="ctr">
              <a:defRPr sz="81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81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81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On Air Companion</a:t>
            </a:r>
          </a:p>
        </p:txBody>
      </p:sp>
      <p:sp>
        <p:nvSpPr>
          <p:cNvPr id="4" name="intro-text-4">
            <a:extLst xmlns:a="http://schemas.openxmlformats.org/drawingml/2006/main">
              <a:ext uri="{FF2B5EF4-FFF2-40B4-BE49-F238E27FC236}">
                <a16:creationId xmlns:a16="http://schemas.microsoft.com/office/drawing/2014/main" id="{88A433ED-68A8-4ECF-981E-9C93B4E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Zoom 마이크와 카메라 상태 표시기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17544-B56D-49AF-A62F-EDE01A71E1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a02fccc9d4ae8"/>
          <a:stretch xmlns:a="http://schemas.openxmlformats.org/drawingml/2006/main"/>
        </p:blipFill>
        <p:spPr>
          <a:xfrm xmlns:a="http://schemas.openxmlformats.org/drawingml/2006/main">
            <a:off x="4437822" y="4000500"/>
            <a:ext cx="3316357" cy="1362075"/>
          </a:xfrm>
          <a:prstGeom xmlns:a="http://schemas.openxmlformats.org/drawingml/2006/main" prst="rect">
            <a:avLst/>
          </a:prstGeom>
        </p:spPr>
      </p:pic>
      <p:sp>
        <p:nvSpPr>
          <p:cNvPr id="6" name="intro-text-5">
            <a:extLst xmlns:a="http://schemas.openxmlformats.org/drawingml/2006/main">
              <a:ext uri="{FF2B5EF4-FFF2-40B4-BE49-F238E27FC236}">
                <a16:creationId xmlns:a16="http://schemas.microsoft.com/office/drawing/2014/main" id="{83D56710-F8AB-4ECF-A0F5-226FDD90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2026-02 Generative AI and UX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이주원 교수님</a:t>
            </a:r>
          </a:p>
        </p:txBody>
      </p:sp>
      <p:sp>
        <p:nvSpPr>
          <p:cNvPr id="7" name="intro-text-6">
            <a:extLst xmlns:a="http://schemas.openxmlformats.org/drawingml/2006/main">
              <a:ext uri="{FF2B5EF4-FFF2-40B4-BE49-F238E27FC236}">
                <a16:creationId xmlns:a16="http://schemas.microsoft.com/office/drawing/2014/main" id="{66F4932F-A748-48F8-9080-28D83D1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86450"/>
            <a:ext cx="338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이화여자대학교 UX디자인전공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정아라 (26MAD12)</a:t>
            </a:r>
          </a:p>
        </p:txBody>
      </p:sp>
      <p:sp>
        <p:nvSpPr>
          <p:cNvPr id="8" name="intro-text-7">
            <a:extLst xmlns:a="http://schemas.openxmlformats.org/drawingml/2006/main">
              <a:ext uri="{FF2B5EF4-FFF2-40B4-BE49-F238E27FC236}">
                <a16:creationId xmlns:a16="http://schemas.microsoft.com/office/drawing/2014/main" id="{AB0DBF87-19DC-4496-80CF-AD1ACEF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96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26"/>
          </a:bodyPr>
          <a:lstStyle xmlns:a="http://schemas.openxmlformats.org/drawingml/2006/main">
            <a:defPPr algn="r">
              <a:defRPr sz="12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2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2026. 10. 12</a:t>
            </a:r>
          </a:p>
        </p:txBody>
      </p:sp>
    </p:spTree>
    <p:extLst>
      <p:ext uri="{BB962C8B-B14F-4D97-AF65-F5344CB8AC3E}">
        <p14:creationId xmlns:p14="http://schemas.microsoft.com/office/powerpoint/2010/main" val="386641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roblem-text-1">
            <a:extLst xmlns:a="http://schemas.openxmlformats.org/drawingml/2006/main">
              <a:ext uri="{FF2B5EF4-FFF2-40B4-BE49-F238E27FC236}">
                <a16:creationId xmlns:a16="http://schemas.microsoft.com/office/drawing/2014/main" id="{5A58E27E-574D-40D6-B959-45242D97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PROBLEM &amp; FOCUS</a:t>
            </a:r>
          </a:p>
        </p:txBody>
      </p:sp>
      <p:sp>
        <p:nvSpPr>
          <p:cNvPr id="2" name="problem-text-2">
            <a:extLst xmlns:a="http://schemas.openxmlformats.org/drawingml/2006/main">
              <a:ext uri="{FF2B5EF4-FFF2-40B4-BE49-F238E27FC236}">
                <a16:creationId xmlns:a16="http://schemas.microsoft.com/office/drawing/2014/main" id="{5B35D9B2-8E92-4C68-8158-5987E83B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문제와 확인 목표</a:t>
            </a:r>
          </a:p>
        </p:txBody>
      </p:sp>
      <p:sp>
        <p:nvSpPr>
          <p:cNvPr id="3" name="problem-text-3">
            <a:extLst xmlns:a="http://schemas.openxmlformats.org/drawingml/2006/main">
              <a:ext uri="{FF2B5EF4-FFF2-40B4-BE49-F238E27FC236}">
                <a16:creationId xmlns:a16="http://schemas.microsoft.com/office/drawing/2014/main" id="{BCF34316-0669-4A92-A619-DF6FA0EA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problem-text-4">
            <a:extLst xmlns:a="http://schemas.openxmlformats.org/drawingml/2006/main">
              <a:ext uri="{FF2B5EF4-FFF2-40B4-BE49-F238E27FC236}">
                <a16:creationId xmlns:a16="http://schemas.microsoft.com/office/drawing/2014/main" id="{7E950A02-A3A7-4973-88EC-408604CE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1047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87"/>
          </a:bodyPr>
          <a:lstStyle xmlns:a="http://schemas.openxmlformats.org/drawingml/2006/main">
            <a:defPPr algn="l">
              <a:defRPr sz="390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390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마이크가 켜진 줄 모르고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390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개인 대화를 한 적이 있습니다.</a:t>
            </a:r>
          </a:p>
        </p:txBody>
      </p:sp>
      <p:sp>
        <p:nvSpPr>
          <p:cNvPr id="5" name="problem-text-5">
            <a:extLst xmlns:a="http://schemas.openxmlformats.org/drawingml/2006/main">
              <a:ext uri="{FF2B5EF4-FFF2-40B4-BE49-F238E27FC236}">
                <a16:creationId xmlns:a16="http://schemas.microsoft.com/office/drawing/2014/main" id="{C44191FC-8BFE-41C9-80A9-B5509379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6" name="problem-text-6">
            <a:extLst xmlns:a="http://schemas.openxmlformats.org/drawingml/2006/main">
              <a:ext uri="{FF2B5EF4-FFF2-40B4-BE49-F238E27FC236}">
                <a16:creationId xmlns:a16="http://schemas.microsoft.com/office/drawing/2014/main" id="{7BBEDE90-62C0-4748-9D06-CA54F9AC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회의 창을 보고 있지 않을 때,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00" b="0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작은 상태 아이콘을 놓쳤습니다.</a:t>
            </a:r>
          </a:p>
        </p:txBody>
      </p:sp>
      <p:sp>
        <p:nvSpPr>
          <p:cNvPr id="7" name="problem-text-7">
            <a:extLst xmlns:a="http://schemas.openxmlformats.org/drawingml/2006/main">
              <a:ext uri="{FF2B5EF4-FFF2-40B4-BE49-F238E27FC236}">
                <a16:creationId xmlns:a16="http://schemas.microsoft.com/office/drawing/2014/main" id="{C9D8F056-E6CC-41CF-A06D-FC7B86A2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10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확인하려는 내용</a:t>
            </a:r>
          </a:p>
        </p:txBody>
      </p:sp>
      <p:sp>
        <p:nvSpPr>
          <p:cNvPr id="8" name="problem-text-8">
            <a:extLst xmlns:a="http://schemas.openxmlformats.org/drawingml/2006/main">
              <a:ext uri="{FF2B5EF4-FFF2-40B4-BE49-F238E27FC236}">
                <a16:creationId xmlns:a16="http://schemas.microsoft.com/office/drawing/2014/main" id="{6C9DCBEA-4034-4261-80AC-95A6D5C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76725"/>
            <a:ext cx="52578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32"/>
          </a:bodyPr>
          <a:lstStyle xmlns:a="http://schemas.openxmlformats.org/drawingml/2006/main">
            <a:defPPr algn="l">
              <a:def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기존 아이콘보다 상태를 더 빨리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알아차리는 데 도움이 되는지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확인하고자 했습니다.</a:t>
            </a:r>
          </a:p>
        </p:txBody>
      </p:sp>
      <p:sp>
        <p:nvSpPr>
          <p:cNvPr id="9" name="problem-text-9">
            <a:extLst xmlns:a="http://schemas.openxmlformats.org/drawingml/2006/main">
              <a:ext uri="{FF2B5EF4-FFF2-40B4-BE49-F238E27FC236}">
                <a16:creationId xmlns:a16="http://schemas.microsoft.com/office/drawing/2014/main" id="{7084E770-C533-4D0A-9E56-F09F68A0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48325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알아차림 속도는 아직 비교 검증하지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898220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ntent-text-1">
            <a:extLst xmlns:a="http://schemas.openxmlformats.org/drawingml/2006/main">
              <a:ext uri="{FF2B5EF4-FFF2-40B4-BE49-F238E27FC236}">
                <a16:creationId xmlns:a16="http://schemas.microsoft.com/office/drawing/2014/main" id="{A05D0F4B-3D25-42FF-8257-638755DD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GOAL &amp; DESIGN INTENT</a:t>
            </a:r>
          </a:p>
        </p:txBody>
      </p:sp>
      <p:sp>
        <p:nvSpPr>
          <p:cNvPr id="2" name="intent-text-2">
            <a:extLst xmlns:a="http://schemas.openxmlformats.org/drawingml/2006/main">
              <a:ext uri="{FF2B5EF4-FFF2-40B4-BE49-F238E27FC236}">
                <a16:creationId xmlns:a16="http://schemas.microsoft.com/office/drawing/2014/main" id="{4D3BF9BC-4B6D-4EEC-9D69-E8E0DE0D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목표와 설계 의도</a:t>
            </a:r>
          </a:p>
        </p:txBody>
      </p:sp>
      <p:sp>
        <p:nvSpPr>
          <p:cNvPr id="3" name="intent-text-3">
            <a:extLst xmlns:a="http://schemas.openxmlformats.org/drawingml/2006/main">
              <a:ext uri="{FF2B5EF4-FFF2-40B4-BE49-F238E27FC236}">
                <a16:creationId xmlns:a16="http://schemas.microsoft.com/office/drawing/2014/main" id="{7C32D790-014F-441D-A52C-C3F6632D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intent-text-4">
            <a:extLst xmlns:a="http://schemas.openxmlformats.org/drawingml/2006/main">
              <a:ext uri="{FF2B5EF4-FFF2-40B4-BE49-F238E27FC236}">
                <a16:creationId xmlns:a16="http://schemas.microsoft.com/office/drawing/2014/main" id="{1D01AFC5-6192-4F00-9952-D77E06C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58483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626"/>
          </a:bodyPr>
          <a:lstStyle xmlns:a="http://schemas.openxmlformats.org/drawingml/2006/main">
            <a:defPPr algn="l">
              <a:def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Zoom 창을 보지 않을 때도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마이크와 카메라 상태를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확인하고 싶었습니다.</a:t>
            </a:r>
          </a:p>
        </p:txBody>
      </p:sp>
      <p:sp>
        <p:nvSpPr>
          <p:cNvPr id="5" name="intent-text-5">
            <a:extLst xmlns:a="http://schemas.openxmlformats.org/drawingml/2006/main">
              <a:ext uri="{FF2B5EF4-FFF2-40B4-BE49-F238E27FC236}">
                <a16:creationId xmlns:a16="http://schemas.microsoft.com/office/drawing/2014/main" id="{D414DDB5-62C8-486D-B5CB-5F78208E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58483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56"/>
          </a:bodyPr>
          <a:lstStyle xmlns:a="http://schemas.openxmlformats.org/drawingml/2006/main">
            <a:defPPr algn="l"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화면 한쪽에 작은 표시기를 띄웠습니다.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회의 중에는 계속 보이도록 했습니다.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켜짐과 꺼짐도 구분해서 표시했습니다.</a:t>
            </a:r>
          </a:p>
        </p:txBody>
      </p:sp>
      <p:sp>
        <p:nvSpPr>
          <p:cNvPr id="6" name="intent-text-6">
            <a:extLst xmlns:a="http://schemas.openxmlformats.org/drawingml/2006/main">
              <a:ext uri="{FF2B5EF4-FFF2-40B4-BE49-F238E27FC236}">
                <a16:creationId xmlns:a16="http://schemas.microsoft.com/office/drawing/2014/main" id="{0E2AACAC-2B4F-47E6-AAFE-2A74994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28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>
            <a:defPPr algn="l"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기본형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595CD-FD34-4A9B-A22D-D9081E0DE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b6f283cbf4e2d"/>
          <a:stretch xmlns:a="http://schemas.openxmlformats.org/drawingml/2006/main"/>
        </p:blipFill>
        <p:spPr>
          <a:xfrm xmlns:a="http://schemas.openxmlformats.org/drawingml/2006/main">
            <a:off x="8020050" y="2258131"/>
            <a:ext cx="2895600" cy="1179689"/>
          </a:xfrm>
          <a:prstGeom xmlns:a="http://schemas.openxmlformats.org/drawingml/2006/main" prst="rect">
            <a:avLst/>
          </a:prstGeom>
        </p:spPr>
      </p:pic>
      <p:sp>
        <p:nvSpPr>
          <p:cNvPr id="8" name="intent-text-7">
            <a:extLst xmlns:a="http://schemas.openxmlformats.org/drawingml/2006/main">
              <a:ext uri="{FF2B5EF4-FFF2-40B4-BE49-F238E27FC236}">
                <a16:creationId xmlns:a16="http://schemas.microsoft.com/office/drawing/2014/main" id="{CE03AAA3-3C08-42B1-B6BA-E55DEE1D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글자와 아이콘으로 상태를 표시합니다.</a:t>
            </a:r>
          </a:p>
        </p:txBody>
      </p:sp>
      <p:sp>
        <p:nvSpPr>
          <p:cNvPr id="9" name="intent-text-8">
            <a:extLst xmlns:a="http://schemas.openxmlformats.org/drawingml/2006/main">
              <a:ext uri="{FF2B5EF4-FFF2-40B4-BE49-F238E27FC236}">
                <a16:creationId xmlns:a16="http://schemas.microsoft.com/office/drawing/2014/main" id="{FB9DF9F1-3A64-43F6-B71B-E69F269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24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>
            <a:defPPr algn="l"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동물형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89C54-D697-4560-832F-556C76BAF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7855e457444c3"/>
          <a:stretch xmlns:a="http://schemas.openxmlformats.org/drawingml/2006/main"/>
        </p:blipFill>
        <p:spPr>
          <a:xfrm xmlns:a="http://schemas.openxmlformats.org/drawingml/2006/main">
            <a:off x="8877300" y="4391025"/>
            <a:ext cx="2114550" cy="1409700"/>
          </a:xfrm>
          <a:prstGeom xmlns:a="http://schemas.openxmlformats.org/drawingml/2006/main" prst="rect">
            <a:avLst/>
          </a:prstGeom>
        </p:spPr>
      </p:pic>
      <p:sp>
        <p:nvSpPr>
          <p:cNvPr id="11" name="intent-text-9">
            <a:extLst xmlns:a="http://schemas.openxmlformats.org/drawingml/2006/main">
              <a:ext uri="{FF2B5EF4-FFF2-40B4-BE49-F238E27FC236}">
                <a16:creationId xmlns:a16="http://schemas.microsoft.com/office/drawing/2014/main" id="{30F735ED-6958-46CE-BD2A-C76F9B63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674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표정과 움직임으로 상태를 표시합니다.</a:t>
            </a:r>
          </a:p>
        </p:txBody>
      </p:sp>
      <p:sp>
        <p:nvSpPr>
          <p:cNvPr id="12" name="intent-text-10">
            <a:extLst xmlns:a="http://schemas.openxmlformats.org/drawingml/2006/main">
              <a:ext uri="{FF2B5EF4-FFF2-40B4-BE49-F238E27FC236}">
                <a16:creationId xmlns:a16="http://schemas.microsoft.com/office/drawing/2014/main" id="{4E8D4290-616B-40F8-A0FC-DDB73ADD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584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두 방식은 같은 상태 정보를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95791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cess-text-1">
            <a:extLst xmlns:a="http://schemas.openxmlformats.org/drawingml/2006/main">
              <a:ext uri="{FF2B5EF4-FFF2-40B4-BE49-F238E27FC236}">
                <a16:creationId xmlns:a16="http://schemas.microsoft.com/office/drawing/2014/main" id="{BCC5F7CF-F284-430E-9336-021C988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PROCESS WITH AI</a:t>
            </a:r>
          </a:p>
        </p:txBody>
      </p:sp>
      <p:sp>
        <p:nvSpPr>
          <p:cNvPr id="2" name="process-text-2">
            <a:extLst xmlns:a="http://schemas.openxmlformats.org/drawingml/2006/main">
              <a:ext uri="{FF2B5EF4-FFF2-40B4-BE49-F238E27FC236}">
                <a16:creationId xmlns:a16="http://schemas.microsoft.com/office/drawing/2014/main" id="{81805C62-A512-41ED-87DB-3120DCD2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Codex와 함께한 작업 과정</a:t>
            </a:r>
          </a:p>
        </p:txBody>
      </p:sp>
      <p:sp>
        <p:nvSpPr>
          <p:cNvPr id="3" name="process-text-3">
            <a:extLst xmlns:a="http://schemas.openxmlformats.org/drawingml/2006/main">
              <a:ext uri="{FF2B5EF4-FFF2-40B4-BE49-F238E27FC236}">
                <a16:creationId xmlns:a16="http://schemas.microsoft.com/office/drawing/2014/main" id="{22E9EE7B-09CF-49AE-9599-95B854D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process-text-4">
            <a:extLst xmlns:a="http://schemas.openxmlformats.org/drawingml/2006/main">
              <a:ext uri="{FF2B5EF4-FFF2-40B4-BE49-F238E27FC236}">
                <a16:creationId xmlns:a16="http://schemas.microsoft.com/office/drawing/2014/main" id="{BD99CC3F-9393-4965-8B0C-57223BAC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10877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259"/>
          </a:bodyPr>
          <a:lstStyle xmlns:a="http://schemas.openxmlformats.org/drawingml/2006/main">
            <a:defPPr algn="l">
              <a:defRPr sz="21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1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제가 불편을 설명하고 시안을 판단했습니다.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1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Codex로 시안과 코드를 만들고 앱에서 다시 확인했습니다.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E0D33-1BFE-41B4-A8C0-DC29612CBA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b2a9c930d4a80"/>
          <a:stretch xmlns:a="http://schemas.openxmlformats.org/drawingml/2006/main"/>
        </p:blipFill>
        <p:spPr>
          <a:xfrm xmlns:a="http://schemas.openxmlformats.org/drawingml/2006/main">
            <a:off x="714375" y="2816931"/>
            <a:ext cx="3333750" cy="1605139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963CD-E60F-4AE5-997A-249BD0509C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9725764fb4fc1"/>
          <a:stretch xmlns:a="http://schemas.openxmlformats.org/drawingml/2006/main"/>
        </p:blipFill>
        <p:spPr>
          <a:xfrm xmlns:a="http://schemas.openxmlformats.org/drawingml/2006/main">
            <a:off x="4638675" y="3354388"/>
            <a:ext cx="2590800" cy="635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33419-1A2C-47D1-BDC9-D9959D80E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c505f4274eb3"/>
          <a:stretch xmlns:a="http://schemas.openxmlformats.org/drawingml/2006/main"/>
        </p:blipFill>
        <p:spPr>
          <a:xfrm xmlns:a="http://schemas.openxmlformats.org/drawingml/2006/main">
            <a:off x="8724900" y="2862263"/>
            <a:ext cx="2143125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process-text-5">
            <a:extLst xmlns:a="http://schemas.openxmlformats.org/drawingml/2006/main">
              <a:ext uri="{FF2B5EF4-FFF2-40B4-BE49-F238E27FC236}">
                <a16:creationId xmlns:a16="http://schemas.microsoft.com/office/drawing/2014/main" id="{98F8F73E-5B85-4D62-A31D-5A9A1663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209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>
            <a:defPPr algn="l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브라우저 시안</a:t>
            </a:r>
          </a:p>
        </p:txBody>
      </p:sp>
      <p:sp>
        <p:nvSpPr>
          <p:cNvPr id="9" name="process-text-6">
            <a:extLst xmlns:a="http://schemas.openxmlformats.org/drawingml/2006/main">
              <a:ext uri="{FF2B5EF4-FFF2-40B4-BE49-F238E27FC236}">
                <a16:creationId xmlns:a16="http://schemas.microsoft.com/office/drawing/2014/main" id="{E7D49F28-FC7B-45BF-BDB5-462F4E47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552950"/>
            <a:ext cx="3209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>
            <a:defPPr algn="l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macOS 플로팅 창</a:t>
            </a:r>
          </a:p>
        </p:txBody>
      </p:sp>
      <p:sp>
        <p:nvSpPr>
          <p:cNvPr id="10" name="process-text-7">
            <a:extLst xmlns:a="http://schemas.openxmlformats.org/drawingml/2006/main">
              <a:ext uri="{FF2B5EF4-FFF2-40B4-BE49-F238E27FC236}">
                <a16:creationId xmlns:a16="http://schemas.microsoft.com/office/drawing/2014/main" id="{9B4F76EF-92AC-495D-B49A-DCE95B39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52950"/>
            <a:ext cx="3209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>
            <a:defPPr algn="l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캐릭터와 실제 감지</a:t>
            </a:r>
          </a:p>
        </p:txBody>
      </p:sp>
      <p:sp>
        <p:nvSpPr>
          <p:cNvPr id="11" name="process-text-8">
            <a:extLst xmlns:a="http://schemas.openxmlformats.org/drawingml/2006/main">
              <a:ext uri="{FF2B5EF4-FFF2-40B4-BE49-F238E27FC236}">
                <a16:creationId xmlns:a16="http://schemas.microsoft.com/office/drawing/2014/main" id="{F240EDAD-7CF7-431F-9170-21E3C1F9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32099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앱 안에서만 보여서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회의 중에는 놓치기 쉬웠습니다.</a:t>
            </a:r>
          </a:p>
        </p:txBody>
      </p:sp>
      <p:sp>
        <p:nvSpPr>
          <p:cNvPr id="12" name="process-text-9">
            <a:extLst xmlns:a="http://schemas.openxmlformats.org/drawingml/2006/main">
              <a:ext uri="{FF2B5EF4-FFF2-40B4-BE49-F238E27FC236}">
                <a16:creationId xmlns:a16="http://schemas.microsoft.com/office/drawing/2014/main" id="{FF2F24B6-BBA8-47C2-8158-8576E7F1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81575"/>
            <a:ext cx="32099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다른 창 위에서도 보이도록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작은 표시기를 띄웠습니다.</a:t>
            </a:r>
          </a:p>
        </p:txBody>
      </p:sp>
      <p:sp>
        <p:nvSpPr>
          <p:cNvPr id="13" name="process-text-10">
            <a:extLst xmlns:a="http://schemas.openxmlformats.org/drawingml/2006/main">
              <a:ext uri="{FF2B5EF4-FFF2-40B4-BE49-F238E27FC236}">
                <a16:creationId xmlns:a16="http://schemas.microsoft.com/office/drawing/2014/main" id="{25382FC6-044B-4469-85B6-69DFA25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81575"/>
            <a:ext cx="32099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시안을 고르고 Zoom에서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상태 변화와 오류를 확인했습니다.</a:t>
            </a:r>
          </a:p>
        </p:txBody>
      </p:sp>
      <p:sp>
        <p:nvSpPr>
          <p:cNvPr id="14" name="process-text-11">
            <a:extLst xmlns:a="http://schemas.openxmlformats.org/drawingml/2006/main">
              <a:ext uri="{FF2B5EF4-FFF2-40B4-BE49-F238E27FC236}">
                <a16:creationId xmlns:a16="http://schemas.microsoft.com/office/drawing/2014/main" id="{09DC204F-4EAD-4AF4-AD22-7D14C7D8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크기, 재질, 체형, 부유 움직임과 꺼짐 아이콘을 여러 번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639305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visuals-text-1">
            <a:extLst xmlns:a="http://schemas.openxmlformats.org/drawingml/2006/main">
              <a:ext uri="{FF2B5EF4-FFF2-40B4-BE49-F238E27FC236}">
                <a16:creationId xmlns:a16="http://schemas.microsoft.com/office/drawing/2014/main" id="{D8FD33D9-8232-4991-96C2-D28C203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VISUAL EXPLORATION 01</a:t>
            </a:r>
          </a:p>
        </p:txBody>
      </p:sp>
      <p:sp>
        <p:nvSpPr>
          <p:cNvPr id="2" name="visuals-text-2">
            <a:extLst xmlns:a="http://schemas.openxmlformats.org/drawingml/2006/main">
              <a:ext uri="{FF2B5EF4-FFF2-40B4-BE49-F238E27FC236}">
                <a16:creationId xmlns:a16="http://schemas.microsoft.com/office/drawing/2014/main" id="{0455BCC7-5E03-4F58-A529-C1BED2EE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모양과 재질을 바꿔가며</a:t>
            </a:r>
          </a:p>
        </p:txBody>
      </p:sp>
      <p:sp>
        <p:nvSpPr>
          <p:cNvPr id="3" name="visuals-text-3">
            <a:extLst xmlns:a="http://schemas.openxmlformats.org/drawingml/2006/main">
              <a:ext uri="{FF2B5EF4-FFF2-40B4-BE49-F238E27FC236}">
                <a16:creationId xmlns:a16="http://schemas.microsoft.com/office/drawing/2014/main" id="{C0BBF145-0420-47C8-8F3B-3591EB6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visuals-text-4">
            <a:extLst xmlns:a="http://schemas.openxmlformats.org/drawingml/2006/main">
              <a:ext uri="{FF2B5EF4-FFF2-40B4-BE49-F238E27FC236}">
                <a16:creationId xmlns:a16="http://schemas.microsoft.com/office/drawing/2014/main" id="{5BBE28EC-FABB-4AA5-A882-D807C02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>
            <a:defPPr algn="l">
              <a:def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픽셀, 투명한 재질, 선으로 그린 동물, 아이콘 중심 표시기를 함께 살펴봤습니다.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892A-C7E5-408E-AB16-D110654E30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f0f5c65d224f26"/>
          <a:stretch xmlns:a="http://schemas.openxmlformats.org/drawingml/2006/main"/>
        </p:blipFill>
        <p:spPr>
          <a:xfrm xmlns:a="http://schemas.openxmlformats.org/drawingml/2006/main">
            <a:off x="628650" y="2133600"/>
            <a:ext cx="2428875" cy="24288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5577D-BF4B-4718-A357-A6B2AB53C1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ed105454e4e69"/>
          <a:stretch xmlns:a="http://schemas.openxmlformats.org/drawingml/2006/main"/>
        </p:blipFill>
        <p:spPr>
          <a:xfrm xmlns:a="http://schemas.openxmlformats.org/drawingml/2006/main">
            <a:off x="3885940" y="1895475"/>
            <a:ext cx="1467371" cy="29813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7E03D-C612-43D1-8FCA-737C861E3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1403739b64b4a"/>
          <a:stretch xmlns:a="http://schemas.openxmlformats.org/drawingml/2006/main"/>
        </p:blipFill>
        <p:spPr>
          <a:xfrm xmlns:a="http://schemas.openxmlformats.org/drawingml/2006/main">
            <a:off x="6665119" y="1895475"/>
            <a:ext cx="1490663" cy="29813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5CC15-133A-4FDE-A334-68669CCD9C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ddb3540c74f5f"/>
          <a:stretch xmlns:a="http://schemas.openxmlformats.org/drawingml/2006/main"/>
        </p:blipFill>
        <p:spPr>
          <a:xfrm xmlns:a="http://schemas.openxmlformats.org/drawingml/2006/main">
            <a:off x="9001125" y="2232679"/>
            <a:ext cx="2533650" cy="620993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9AF80-FCB9-46D1-A6A7-6D57490101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fddd5e73d4fd8"/>
          <a:stretch xmlns:a="http://schemas.openxmlformats.org/drawingml/2006/main"/>
        </p:blipFill>
        <p:spPr>
          <a:xfrm xmlns:a="http://schemas.openxmlformats.org/drawingml/2006/main">
            <a:off x="9629775" y="3209925"/>
            <a:ext cx="1276350" cy="1276350"/>
          </a:xfrm>
          <a:prstGeom xmlns:a="http://schemas.openxmlformats.org/drawingml/2006/main" prst="rect">
            <a:avLst/>
          </a:prstGeom>
        </p:spPr>
      </p:pic>
      <p:sp>
        <p:nvSpPr>
          <p:cNvPr id="10" name="visuals-text-5">
            <a:extLst xmlns:a="http://schemas.openxmlformats.org/drawingml/2006/main">
              <a:ext uri="{FF2B5EF4-FFF2-40B4-BE49-F238E27FC236}">
                <a16:creationId xmlns:a16="http://schemas.microsoft.com/office/drawing/2014/main" id="{F08234EF-A2B0-4974-97F8-29FCEE7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픽셀</a:t>
            </a:r>
          </a:p>
        </p:txBody>
      </p:sp>
      <p:sp>
        <p:nvSpPr>
          <p:cNvPr id="11" name="visuals-text-6">
            <a:extLst xmlns:a="http://schemas.openxmlformats.org/drawingml/2006/main">
              <a:ext uri="{FF2B5EF4-FFF2-40B4-BE49-F238E27FC236}">
                <a16:creationId xmlns:a16="http://schemas.microsoft.com/office/drawing/2014/main" id="{AC74BB0A-8889-4D33-8AFC-7B1C7FFF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0577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물방울</a:t>
            </a:r>
          </a:p>
        </p:txBody>
      </p:sp>
      <p:sp>
        <p:nvSpPr>
          <p:cNvPr id="12" name="visuals-text-7">
            <a:extLst xmlns:a="http://schemas.openxmlformats.org/drawingml/2006/main">
              <a:ext uri="{FF2B5EF4-FFF2-40B4-BE49-F238E27FC236}">
                <a16:creationId xmlns:a16="http://schemas.microsoft.com/office/drawing/2014/main" id="{176D37FA-28F4-4FF3-8E71-41836AE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577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심플한 강아지</a:t>
            </a:r>
          </a:p>
        </p:txBody>
      </p:sp>
      <p:sp>
        <p:nvSpPr>
          <p:cNvPr id="13" name="visuals-text-8">
            <a:extLst xmlns:a="http://schemas.openxmlformats.org/drawingml/2006/main">
              <a:ext uri="{FF2B5EF4-FFF2-40B4-BE49-F238E27FC236}">
                <a16:creationId xmlns:a16="http://schemas.microsoft.com/office/drawing/2014/main" id="{2A7DE6F5-09AA-44A5-85C5-6CA4AB90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57775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4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아이콘 중심</a:t>
            </a:r>
          </a:p>
        </p:txBody>
      </p:sp>
      <p:sp>
        <p:nvSpPr>
          <p:cNvPr id="14" name="visuals-text-9">
            <a:extLst xmlns:a="http://schemas.openxmlformats.org/drawingml/2006/main">
              <a:ext uri="{FF2B5EF4-FFF2-40B4-BE49-F238E27FC236}">
                <a16:creationId xmlns:a16="http://schemas.microsoft.com/office/drawing/2014/main" id="{B5E29A40-9B6B-4B65-92DA-B871DCD5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작게 줄였을 때도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윤곽이 남는지 살펴봤습니다.</a:t>
            </a:r>
          </a:p>
        </p:txBody>
      </p:sp>
      <p:sp>
        <p:nvSpPr>
          <p:cNvPr id="15" name="visuals-text-10">
            <a:extLst xmlns:a="http://schemas.openxmlformats.org/drawingml/2006/main">
              <a:ext uri="{FF2B5EF4-FFF2-40B4-BE49-F238E27FC236}">
                <a16:creationId xmlns:a16="http://schemas.microsoft.com/office/drawing/2014/main" id="{DF2AB688-9C8B-4AB4-94FB-A52CC22F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340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투명한 재질 안에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상태 신호를 넣어봤습니다.</a:t>
            </a:r>
          </a:p>
        </p:txBody>
      </p:sp>
      <p:sp>
        <p:nvSpPr>
          <p:cNvPr id="16" name="visuals-text-11">
            <a:extLst xmlns:a="http://schemas.openxmlformats.org/drawingml/2006/main">
              <a:ext uri="{FF2B5EF4-FFF2-40B4-BE49-F238E27FC236}">
                <a16:creationId xmlns:a16="http://schemas.microsoft.com/office/drawing/2014/main" id="{6AB91627-800B-4532-91D1-EB4DDD52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340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선과 자세로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켜짐을 표현해봤습니다.</a:t>
            </a:r>
          </a:p>
        </p:txBody>
      </p:sp>
      <p:sp>
        <p:nvSpPr>
          <p:cNvPr id="17" name="visuals-text-12">
            <a:extLst xmlns:a="http://schemas.openxmlformats.org/drawingml/2006/main">
              <a:ext uri="{FF2B5EF4-FFF2-40B4-BE49-F238E27FC236}">
                <a16:creationId xmlns:a16="http://schemas.microsoft.com/office/drawing/2014/main" id="{C22CCD72-C318-48C8-8488-26ED3536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34025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캐릭터 없이도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상태가 읽히게 만들었습니다.</a:t>
            </a:r>
          </a:p>
        </p:txBody>
      </p:sp>
    </p:spTree>
    <p:extLst>
      <p:ext uri="{BB962C8B-B14F-4D97-AF65-F5344CB8AC3E}">
        <p14:creationId xmlns:p14="http://schemas.microsoft.com/office/powerpoint/2010/main" val="1398509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animals-text-1">
            <a:extLst xmlns:a="http://schemas.openxmlformats.org/drawingml/2006/main">
              <a:ext uri="{FF2B5EF4-FFF2-40B4-BE49-F238E27FC236}">
                <a16:creationId xmlns:a16="http://schemas.microsoft.com/office/drawing/2014/main" id="{EB8322FD-0444-4BEE-A48C-E243DA44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VISUAL EXPLORATION 02</a:t>
            </a:r>
          </a:p>
        </p:txBody>
      </p:sp>
      <p:sp>
        <p:nvSpPr>
          <p:cNvPr id="2" name="animals-text-2">
            <a:extLst xmlns:a="http://schemas.openxmlformats.org/drawingml/2006/main">
              <a:ext uri="{FF2B5EF4-FFF2-40B4-BE49-F238E27FC236}">
                <a16:creationId xmlns:a16="http://schemas.microsoft.com/office/drawing/2014/main" id="{14FC271F-1945-4766-BA5E-D967BA8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동물의 체형과 표정을 바꿔가며</a:t>
            </a:r>
          </a:p>
        </p:txBody>
      </p:sp>
      <p:sp>
        <p:nvSpPr>
          <p:cNvPr id="3" name="animals-text-3">
            <a:extLst xmlns:a="http://schemas.openxmlformats.org/drawingml/2006/main">
              <a:ext uri="{FF2B5EF4-FFF2-40B4-BE49-F238E27FC236}">
                <a16:creationId xmlns:a16="http://schemas.microsoft.com/office/drawing/2014/main" id="{D0D1FB19-8EE0-441E-9BE0-7CDAC45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" name="animals-text-4">
            <a:extLst xmlns:a="http://schemas.openxmlformats.org/drawingml/2006/main">
              <a:ext uri="{FF2B5EF4-FFF2-40B4-BE49-F238E27FC236}">
                <a16:creationId xmlns:a16="http://schemas.microsoft.com/office/drawing/2014/main" id="{73ACFF1A-91A0-47E3-A6D9-96E13093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납작한 일러스트부터 부드러운 입체 형태까지, 같은 체형으로 맞추지 않고 다양하게 만들었습니다.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6DA3D-C2FB-4554-B11B-9EEB4ACD2D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b1a62c0bd41ce"/>
          <a:stretch xmlns:a="http://schemas.openxmlformats.org/drawingml/2006/main"/>
        </p:blipFill>
        <p:spPr>
          <a:xfrm xmlns:a="http://schemas.openxmlformats.org/drawingml/2006/main">
            <a:off x="1138238" y="2095500"/>
            <a:ext cx="5372100" cy="4029075"/>
          </a:xfrm>
          <a:prstGeom xmlns:a="http://schemas.openxmlformats.org/drawingml/2006/main" prst="rect">
            <a:avLst/>
          </a:prstGeom>
        </p:spPr>
      </p:pic>
      <p:sp>
        <p:nvSpPr>
          <p:cNvPr id="6" name="animals-text-5">
            <a:extLst xmlns:a="http://schemas.openxmlformats.org/drawingml/2006/main">
              <a:ext uri="{FF2B5EF4-FFF2-40B4-BE49-F238E27FC236}">
                <a16:creationId xmlns:a16="http://schemas.microsoft.com/office/drawing/2014/main" id="{8127BEB7-A029-4E26-8C00-9F44BFCA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>
            <a:defPPr algn="l"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앱에 들어간 동물형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11678-003D-4929-8BEA-D32FB98AE2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2c9497a2c457e"/>
          <a:stretch xmlns:a="http://schemas.openxmlformats.org/drawingml/2006/main"/>
        </p:blipFill>
        <p:spPr>
          <a:xfrm xmlns:a="http://schemas.openxmlformats.org/drawingml/2006/main">
            <a:off x="7622381" y="2686050"/>
            <a:ext cx="1728788" cy="11525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DF23A-E092-4AA9-9E2B-B249DC159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818c19c09438d"/>
          <a:stretch xmlns:a="http://schemas.openxmlformats.org/drawingml/2006/main"/>
        </p:blipFill>
        <p:spPr>
          <a:xfrm xmlns:a="http://schemas.openxmlformats.org/drawingml/2006/main">
            <a:off x="9765506" y="2686050"/>
            <a:ext cx="1728788" cy="11525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7BDB2-8898-443B-8626-72749ADAA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7c2e753ee49d6"/>
          <a:stretch xmlns:a="http://schemas.openxmlformats.org/drawingml/2006/main"/>
        </p:blipFill>
        <p:spPr>
          <a:xfrm xmlns:a="http://schemas.openxmlformats.org/drawingml/2006/main">
            <a:off x="7622381" y="4191000"/>
            <a:ext cx="1728788" cy="11525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91197-811D-4E02-B8F5-7CB47E53B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9f8d2aabe4e7c"/>
          <a:stretch xmlns:a="http://schemas.openxmlformats.org/drawingml/2006/main"/>
        </p:blipFill>
        <p:spPr>
          <a:xfrm xmlns:a="http://schemas.openxmlformats.org/drawingml/2006/main">
            <a:off x="9765506" y="4191000"/>
            <a:ext cx="1728788" cy="1152525"/>
          </a:xfrm>
          <a:prstGeom xmlns:a="http://schemas.openxmlformats.org/drawingml/2006/main" prst="rect">
            <a:avLst/>
          </a:prstGeom>
        </p:spPr>
      </p:pic>
      <p:sp>
        <p:nvSpPr>
          <p:cNvPr id="11" name="animals-text-6">
            <a:extLst xmlns:a="http://schemas.openxmlformats.org/drawingml/2006/main">
              <a:ext uri="{FF2B5EF4-FFF2-40B4-BE49-F238E27FC236}">
                <a16:creationId xmlns:a16="http://schemas.microsoft.com/office/drawing/2014/main" id="{189E8652-9C00-409C-9AAE-D2BF3BF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2430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카피바라</a:t>
            </a:r>
          </a:p>
        </p:txBody>
      </p:sp>
      <p:sp>
        <p:nvSpPr>
          <p:cNvPr id="12" name="animals-text-7">
            <a:extLst xmlns:a="http://schemas.openxmlformats.org/drawingml/2006/main">
              <a:ext uri="{FF2B5EF4-FFF2-40B4-BE49-F238E27FC236}">
                <a16:creationId xmlns:a16="http://schemas.microsoft.com/office/drawing/2014/main" id="{18ED4340-5BA7-492F-B217-FEB12BF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햄스터</a:t>
            </a:r>
          </a:p>
        </p:txBody>
      </p:sp>
      <p:sp>
        <p:nvSpPr>
          <p:cNvPr id="13" name="animals-text-8">
            <a:extLst xmlns:a="http://schemas.openxmlformats.org/drawingml/2006/main">
              <a:ext uri="{FF2B5EF4-FFF2-40B4-BE49-F238E27FC236}">
                <a16:creationId xmlns:a16="http://schemas.microsoft.com/office/drawing/2014/main" id="{C515F1D8-F082-4A05-A67B-19AAA925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292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강아지</a:t>
            </a:r>
          </a:p>
        </p:txBody>
      </p:sp>
      <p:sp>
        <p:nvSpPr>
          <p:cNvPr id="14" name="animals-text-9">
            <a:extLst xmlns:a="http://schemas.openxmlformats.org/drawingml/2006/main">
              <a:ext uri="{FF2B5EF4-FFF2-40B4-BE49-F238E27FC236}">
                <a16:creationId xmlns:a16="http://schemas.microsoft.com/office/drawing/2014/main" id="{42F6BBA3-3727-45BC-AB69-6A58F37E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29250"/>
            <a:ext cx="1828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공룡</a:t>
            </a:r>
          </a:p>
        </p:txBody>
      </p:sp>
      <p:sp>
        <p:nvSpPr>
          <p:cNvPr id="15" name="animals-text-10">
            <a:extLst xmlns:a="http://schemas.openxmlformats.org/drawingml/2006/main">
              <a:ext uri="{FF2B5EF4-FFF2-40B4-BE49-F238E27FC236}">
                <a16:creationId xmlns:a16="http://schemas.microsoft.com/office/drawing/2014/main" id="{559823DB-7816-40E4-BAE7-415F1B2C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8007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52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잠든 표정과 깨어 있는 표정도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66234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B4FE42-FEFF-4712-979C-87CEE6CDD27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05700" y="47720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001E2-4305-4647-8BDC-26B3A75B2B4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524250" y="47720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97DD85-A532-4A72-9940-D3D1E5E1DB34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076450" y="3143250"/>
            <a:ext cx="8296275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05610-6611-427C-8A6E-7C44979899F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2619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81876-C946-41AF-BF34-B5D838F693B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34050" y="2619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6B267-F1A7-4F8B-AD44-9785C88345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6193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AA398"/>
            </a:solidFill>
            <a:tailEnd type="triangle" w="sm" len="sm"/>
          </a:ln>
        </p:spPr>
      </p:cxnSp>
      <p:sp>
        <p:nvSpPr>
          <p:cNvPr id="28" name="flow-text-1">
            <a:extLst xmlns:a="http://schemas.openxmlformats.org/drawingml/2006/main">
              <a:ext uri="{FF2B5EF4-FFF2-40B4-BE49-F238E27FC236}">
                <a16:creationId xmlns:a16="http://schemas.microsoft.com/office/drawing/2014/main" id="{A9D95E76-E8D2-4B0C-A450-AEDBCAC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USER FLOW</a:t>
            </a:r>
          </a:p>
        </p:txBody>
      </p:sp>
      <p:sp>
        <p:nvSpPr>
          <p:cNvPr id="2" name="flow-text-2">
            <a:extLst xmlns:a="http://schemas.openxmlformats.org/drawingml/2006/main">
              <a:ext uri="{FF2B5EF4-FFF2-40B4-BE49-F238E27FC236}">
                <a16:creationId xmlns:a16="http://schemas.microsoft.com/office/drawing/2014/main" id="{7EB826BF-366C-42B0-9E3D-446DB28C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사용자 흐름</a:t>
            </a:r>
          </a:p>
        </p:txBody>
      </p:sp>
      <p:sp>
        <p:nvSpPr>
          <p:cNvPr id="3" name="flow-text-3">
            <a:extLst xmlns:a="http://schemas.openxmlformats.org/drawingml/2006/main">
              <a:ext uri="{FF2B5EF4-FFF2-40B4-BE49-F238E27FC236}">
                <a16:creationId xmlns:a16="http://schemas.microsoft.com/office/drawing/2014/main" id="{EEDB323B-0100-4F12-8361-9F56D73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" name="flow-text-4">
            <a:extLst xmlns:a="http://schemas.openxmlformats.org/drawingml/2006/main">
              <a:ext uri="{FF2B5EF4-FFF2-40B4-BE49-F238E27FC236}">
                <a16:creationId xmlns:a16="http://schemas.microsoft.com/office/drawing/2014/main" id="{EFDD4516-9B19-4064-AF2F-34A838E5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715"/>
          </a:bodyPr>
          <a:lstStyle xmlns:a="http://schemas.openxmlformats.org/drawingml/2006/main">
            <a:defPPr algn="l">
              <a:def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처음 실행할 때</a:t>
            </a:r>
          </a:p>
        </p:txBody>
      </p:sp>
      <p:sp>
        <p:nvSpPr>
          <p:cNvPr id="5" name="flow-download">
            <a:extLst xmlns:a="http://schemas.openxmlformats.org/drawingml/2006/main">
              <a:ext uri="{FF2B5EF4-FFF2-40B4-BE49-F238E27FC236}">
                <a16:creationId xmlns:a16="http://schemas.microsoft.com/office/drawing/2014/main" id="{F1DE1AA5-8680-411B-8134-80F800A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2288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6" name="flow-text-5">
            <a:extLst xmlns:a="http://schemas.openxmlformats.org/drawingml/2006/main">
              <a:ext uri="{FF2B5EF4-FFF2-40B4-BE49-F238E27FC236}">
                <a16:creationId xmlns:a16="http://schemas.microsoft.com/office/drawing/2014/main" id="{41249F25-3A1D-4BBF-81B1-D3BFFBB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01  다운로드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ZIP 압축 해제</a:t>
            </a:r>
          </a:p>
        </p:txBody>
      </p:sp>
      <p:sp>
        <p:nvSpPr>
          <p:cNvPr id="7" name="flow-launch">
            <a:extLst xmlns:a="http://schemas.openxmlformats.org/drawingml/2006/main">
              <a:ext uri="{FF2B5EF4-FFF2-40B4-BE49-F238E27FC236}">
                <a16:creationId xmlns:a16="http://schemas.microsoft.com/office/drawing/2014/main" id="{4D24AD55-6592-4FCB-9E3C-44912BD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2288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8" name="flow-text-6">
            <a:extLst xmlns:a="http://schemas.openxmlformats.org/drawingml/2006/main">
              <a:ext uri="{FF2B5EF4-FFF2-40B4-BE49-F238E27FC236}">
                <a16:creationId xmlns:a16="http://schemas.microsoft.com/office/drawing/2014/main" id="{0C8D5ADB-13B1-41F1-B566-A008CA6E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02  설치와 실행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응용 프로그램에 이동</a:t>
            </a:r>
          </a:p>
        </p:txBody>
      </p:sp>
      <p:sp>
        <p:nvSpPr>
          <p:cNvPr id="9" name="flow-permission">
            <a:extLst xmlns:a="http://schemas.openxmlformats.org/drawingml/2006/main">
              <a:ext uri="{FF2B5EF4-FFF2-40B4-BE49-F238E27FC236}">
                <a16:creationId xmlns:a16="http://schemas.microsoft.com/office/drawing/2014/main" id="{9F9BEA40-E6F0-4415-ABBF-C53CBEE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2288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10" name="flow-text-7">
            <a:extLst xmlns:a="http://schemas.openxmlformats.org/drawingml/2006/main">
              <a:ext uri="{FF2B5EF4-FFF2-40B4-BE49-F238E27FC236}">
                <a16:creationId xmlns:a16="http://schemas.microsoft.com/office/drawing/2014/main" id="{7C86041A-1B2C-451F-BBEB-EA3E6BF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03  접근성 허용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Zoom 상태 읽기</a:t>
            </a:r>
          </a:p>
        </p:txBody>
      </p:sp>
      <p:sp>
        <p:nvSpPr>
          <p:cNvPr id="11" name="flow-consent">
            <a:extLst xmlns:a="http://schemas.openxmlformats.org/drawingml/2006/main">
              <a:ext uri="{FF2B5EF4-FFF2-40B4-BE49-F238E27FC236}">
                <a16:creationId xmlns:a16="http://schemas.microsoft.com/office/drawing/2014/main" id="{9A847306-3C98-44F4-BDE4-6323DD30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2885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12" name="flow-text-8">
            <a:extLst xmlns:a="http://schemas.openxmlformats.org/drawingml/2006/main">
              <a:ext uri="{FF2B5EF4-FFF2-40B4-BE49-F238E27FC236}">
                <a16:creationId xmlns:a16="http://schemas.microsoft.com/office/drawing/2014/main" id="{EF31B38F-25C9-434F-A4CB-5BEB5C48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050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04  통계 동의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전송 여부 선택</a:t>
            </a:r>
          </a:p>
        </p:txBody>
      </p:sp>
      <p:sp>
        <p:nvSpPr>
          <p:cNvPr id="13" name="flow-text-9">
            <a:extLst xmlns:a="http://schemas.openxmlformats.org/drawingml/2006/main">
              <a:ext uri="{FF2B5EF4-FFF2-40B4-BE49-F238E27FC236}">
                <a16:creationId xmlns:a16="http://schemas.microsoft.com/office/drawing/2014/main" id="{F66E3BBB-EA43-4567-ACFA-E5F499B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715"/>
          </a:bodyPr>
          <a:lstStyle xmlns:a="http://schemas.openxmlformats.org/drawingml/2006/main">
            <a:defPPr algn="l">
              <a:def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회의에서 사용할 때</a:t>
            </a:r>
          </a:p>
        </p:txBody>
      </p:sp>
      <p:sp>
        <p:nvSpPr>
          <p:cNvPr id="14" name="flow-style">
            <a:extLst xmlns:a="http://schemas.openxmlformats.org/drawingml/2006/main">
              <a:ext uri="{FF2B5EF4-FFF2-40B4-BE49-F238E27FC236}">
                <a16:creationId xmlns:a16="http://schemas.microsoft.com/office/drawing/2014/main" id="{FCF96EA1-8E8B-408B-86B1-2E5E5D5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8956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15" name="flow-text-10">
            <a:extLst xmlns:a="http://schemas.openxmlformats.org/drawingml/2006/main">
              <a:ext uri="{FF2B5EF4-FFF2-40B4-BE49-F238E27FC236}">
                <a16:creationId xmlns:a16="http://schemas.microsoft.com/office/drawing/2014/main" id="{3655D258-DA42-4BE8-9793-51BAEC78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05  표시 선택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기본형 또는 동물형</a:t>
            </a:r>
          </a:p>
        </p:txBody>
      </p:sp>
      <p:sp>
        <p:nvSpPr>
          <p:cNvPr id="16" name="flow-meeting">
            <a:extLst xmlns:a="http://schemas.openxmlformats.org/drawingml/2006/main">
              <a:ext uri="{FF2B5EF4-FFF2-40B4-BE49-F238E27FC236}">
                <a16:creationId xmlns:a16="http://schemas.microsoft.com/office/drawing/2014/main" id="{E9E45641-8A96-4749-8081-439132DB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48150"/>
            <a:ext cx="28956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17" name="flow-text-11">
            <a:extLst xmlns:a="http://schemas.openxmlformats.org/drawingml/2006/main">
              <a:ext uri="{FF2B5EF4-FFF2-40B4-BE49-F238E27FC236}">
                <a16:creationId xmlns:a16="http://schemas.microsoft.com/office/drawing/2014/main" id="{12FF59C1-A631-4356-866D-0F8035F4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06  Zoom 회의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마이크와 카메라 조작</a:t>
            </a:r>
          </a:p>
        </p:txBody>
      </p:sp>
      <p:sp>
        <p:nvSpPr>
          <p:cNvPr id="18" name="flow-indicator">
            <a:extLst xmlns:a="http://schemas.openxmlformats.org/drawingml/2006/main">
              <a:ext uri="{FF2B5EF4-FFF2-40B4-BE49-F238E27FC236}">
                <a16:creationId xmlns:a16="http://schemas.microsoft.com/office/drawing/2014/main" id="{0E2354F6-134C-4A61-9E5E-F8E3A3E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8956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807B72"/>
            </a:solidFill>
          </a:ln>
        </p:spPr>
      </p:sp>
      <p:sp>
        <p:nvSpPr>
          <p:cNvPr id="19" name="flow-text-12">
            <a:extLst xmlns:a="http://schemas.openxmlformats.org/drawingml/2006/main">
              <a:ext uri="{FF2B5EF4-FFF2-40B4-BE49-F238E27FC236}">
                <a16:creationId xmlns:a16="http://schemas.microsoft.com/office/drawing/2014/main" id="{F13FE59B-31F9-4588-A893-0B43DB72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07  상시 표시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상태 변화 자동 반영</a:t>
            </a:r>
          </a:p>
        </p:txBody>
      </p:sp>
      <p:sp>
        <p:nvSpPr>
          <p:cNvPr id="20" name="flow-text-13">
            <a:extLst xmlns:a="http://schemas.openxmlformats.org/drawingml/2006/main">
              <a:ext uri="{FF2B5EF4-FFF2-40B4-BE49-F238E27FC236}">
                <a16:creationId xmlns:a16="http://schemas.microsoft.com/office/drawing/2014/main" id="{6751F996-6395-4ABB-9B3D-474CB6A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62"/>
          </a:bodyPr>
          <a:lstStyle xmlns:a="http://schemas.openxmlformats.org/drawingml/2006/main">
            <a:defPPr algn="l">
              <a:defRPr sz="1500" b="0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통계에 동의하지 않아도 상태 표시를 사용할 수 있습니다.</a:t>
            </a:r>
          </a:p>
        </p:txBody>
      </p:sp>
      <p:sp>
        <p:nvSpPr>
          <p:cNvPr id="21" name="flow-text-14">
            <a:extLst xmlns:a="http://schemas.openxmlformats.org/drawingml/2006/main">
              <a:ext uri="{FF2B5EF4-FFF2-40B4-BE49-F238E27FC236}">
                <a16:creationId xmlns:a16="http://schemas.microsoft.com/office/drawing/2014/main" id="{2EF67977-580E-4F64-9F84-D5F141F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8172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538"/>
          </a:bodyPr>
          <a:lstStyle xmlns:a="http://schemas.openxmlformats.org/drawingml/2006/main">
            <a:defPPr algn="l">
              <a:defRPr sz="127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27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선택한 표시 스타일과 화면 위치는 다음 실행에도 유지됩니다.</a:t>
            </a:r>
          </a:p>
        </p:txBody>
      </p:sp>
    </p:spTree>
    <p:extLst>
      <p:ext uri="{BB962C8B-B14F-4D97-AF65-F5344CB8AC3E}">
        <p14:creationId xmlns:p14="http://schemas.microsoft.com/office/powerpoint/2010/main" val="706640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tates-text-1">
            <a:extLst xmlns:a="http://schemas.openxmlformats.org/drawingml/2006/main">
              <a:ext uri="{FF2B5EF4-FFF2-40B4-BE49-F238E27FC236}">
                <a16:creationId xmlns:a16="http://schemas.microsoft.com/office/drawing/2014/main" id="{7FFFFB1C-7AC2-470E-89AE-E985D613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RESULT &amp; LIVE DEMO</a:t>
            </a:r>
          </a:p>
        </p:txBody>
      </p:sp>
      <p:sp>
        <p:nvSpPr>
          <p:cNvPr id="2" name="states-text-2">
            <a:extLst xmlns:a="http://schemas.openxmlformats.org/drawingml/2006/main">
              <a:ext uri="{FF2B5EF4-FFF2-40B4-BE49-F238E27FC236}">
                <a16:creationId xmlns:a16="http://schemas.microsoft.com/office/drawing/2014/main" id="{818D5993-73CB-449B-B0DF-36A5DC39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기본형과 동물형의 네 가지 상태</a:t>
            </a:r>
          </a:p>
        </p:txBody>
      </p:sp>
      <p:sp>
        <p:nvSpPr>
          <p:cNvPr id="3" name="states-text-3">
            <a:extLst xmlns:a="http://schemas.openxmlformats.org/drawingml/2006/main">
              <a:ext uri="{FF2B5EF4-FFF2-40B4-BE49-F238E27FC236}">
                <a16:creationId xmlns:a16="http://schemas.microsoft.com/office/drawing/2014/main" id="{1CD11E17-8114-48F1-B0FC-7785A745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4" name="states-text-4">
            <a:extLst xmlns:a="http://schemas.openxmlformats.org/drawingml/2006/main">
              <a:ext uri="{FF2B5EF4-FFF2-40B4-BE49-F238E27FC236}">
                <a16:creationId xmlns:a16="http://schemas.microsoft.com/office/drawing/2014/main" id="{94D0D02F-8CF7-461E-B621-C96AA988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04975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모두 꺼짐</a:t>
            </a:r>
          </a:p>
        </p:txBody>
      </p:sp>
      <p:sp>
        <p:nvSpPr>
          <p:cNvPr id="5" name="states-text-5">
            <a:extLst xmlns:a="http://schemas.openxmlformats.org/drawingml/2006/main">
              <a:ext uri="{FF2B5EF4-FFF2-40B4-BE49-F238E27FC236}">
                <a16:creationId xmlns:a16="http://schemas.microsoft.com/office/drawing/2014/main" id="{1D830148-A302-4FE1-B742-340F0CA6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마이크 켜짐</a:t>
            </a:r>
          </a:p>
        </p:txBody>
      </p:sp>
      <p:sp>
        <p:nvSpPr>
          <p:cNvPr id="6" name="states-text-6">
            <a:extLst xmlns:a="http://schemas.openxmlformats.org/drawingml/2006/main">
              <a:ext uri="{FF2B5EF4-FFF2-40B4-BE49-F238E27FC236}">
                <a16:creationId xmlns:a16="http://schemas.microsoft.com/office/drawing/2014/main" id="{FDA91A72-6708-435B-B0A5-2D3B1BE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04975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카메라 켜짐</a:t>
            </a:r>
          </a:p>
        </p:txBody>
      </p:sp>
      <p:sp>
        <p:nvSpPr>
          <p:cNvPr id="7" name="states-text-7">
            <a:extLst xmlns:a="http://schemas.openxmlformats.org/drawingml/2006/main">
              <a:ext uri="{FF2B5EF4-FFF2-40B4-BE49-F238E27FC236}">
                <a16:creationId xmlns:a16="http://schemas.microsoft.com/office/drawing/2014/main" id="{D67AC16B-AF2C-42E2-8617-9E576D3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04975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둘 다 켜짐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B2160-3D4A-4D81-A902-4EAF5AAF8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6bca08e2c4a09"/>
          <a:stretch xmlns:a="http://schemas.openxmlformats.org/drawingml/2006/main"/>
        </p:blipFill>
        <p:spPr>
          <a:xfrm xmlns:a="http://schemas.openxmlformats.org/drawingml/2006/main">
            <a:off x="657225" y="2487426"/>
            <a:ext cx="2514600" cy="616324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98F30-5144-4824-957D-437873A249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b589fa0294afd"/>
          <a:stretch xmlns:a="http://schemas.openxmlformats.org/drawingml/2006/main"/>
        </p:blipFill>
        <p:spPr>
          <a:xfrm xmlns:a="http://schemas.openxmlformats.org/drawingml/2006/main">
            <a:off x="3457575" y="2487426"/>
            <a:ext cx="2514600" cy="616324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9958B-CD63-4CF4-9ABE-32A66D6D9A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b0485377c4fe7"/>
          <a:stretch xmlns:a="http://schemas.openxmlformats.org/drawingml/2006/main"/>
        </p:blipFill>
        <p:spPr>
          <a:xfrm xmlns:a="http://schemas.openxmlformats.org/drawingml/2006/main">
            <a:off x="6257925" y="2487426"/>
            <a:ext cx="2514600" cy="616324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B81C6-F46B-4EC7-B84C-DA54181CC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42a56f5cd4cb5"/>
          <a:stretch xmlns:a="http://schemas.openxmlformats.org/drawingml/2006/main"/>
        </p:blipFill>
        <p:spPr>
          <a:xfrm xmlns:a="http://schemas.openxmlformats.org/drawingml/2006/main">
            <a:off x="9058275" y="2487426"/>
            <a:ext cx="2514600" cy="616324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50D30-58D8-46CE-A54C-BA2EC3E2A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6e40579764f7f"/>
          <a:stretch xmlns:a="http://schemas.openxmlformats.org/drawingml/2006/main"/>
        </p:blipFill>
        <p:spPr>
          <a:xfrm xmlns:a="http://schemas.openxmlformats.org/drawingml/2006/main">
            <a:off x="647700" y="3505200"/>
            <a:ext cx="2514600" cy="16764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3F144-C322-4EB8-BC76-F97B65AD8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c08afe3144c45"/>
          <a:stretch xmlns:a="http://schemas.openxmlformats.org/drawingml/2006/main"/>
        </p:blipFill>
        <p:spPr>
          <a:xfrm xmlns:a="http://schemas.openxmlformats.org/drawingml/2006/main">
            <a:off x="3448050" y="3505200"/>
            <a:ext cx="2514600" cy="167640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D4351-3129-4694-8902-07027B40B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3b9a52e9f4f9b"/>
          <a:stretch xmlns:a="http://schemas.openxmlformats.org/drawingml/2006/main"/>
        </p:blipFill>
        <p:spPr>
          <a:xfrm xmlns:a="http://schemas.openxmlformats.org/drawingml/2006/main">
            <a:off x="6248400" y="3505200"/>
            <a:ext cx="2514600" cy="1676400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77F73-A7E2-431F-B899-E3B3A09AB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600eb03b844bb"/>
          <a:stretch xmlns:a="http://schemas.openxmlformats.org/drawingml/2006/main"/>
        </p:blipFill>
        <p:spPr>
          <a:xfrm xmlns:a="http://schemas.openxmlformats.org/drawingml/2006/main">
            <a:off x="9048750" y="3505200"/>
            <a:ext cx="2514600" cy="1676400"/>
          </a:xfrm>
          <a:prstGeom xmlns:a="http://schemas.openxmlformats.org/drawingml/2006/main" prst="rect">
            <a:avLst/>
          </a:prstGeom>
        </p:spPr>
      </p:pic>
      <p:sp>
        <p:nvSpPr>
          <p:cNvPr id="16" name="states-text-8">
            <a:extLst xmlns:a="http://schemas.openxmlformats.org/drawingml/2006/main">
              <a:ext uri="{FF2B5EF4-FFF2-40B4-BE49-F238E27FC236}">
                <a16:creationId xmlns:a16="http://schemas.microsoft.com/office/drawing/2014/main" id="{F86579FD-6866-4A5E-BEFC-705B9F8F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ctr"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쉬는 표정</a:t>
            </a:r>
          </a:p>
        </p:txBody>
      </p:sp>
      <p:sp>
        <p:nvSpPr>
          <p:cNvPr id="17" name="states-text-9">
            <a:extLst xmlns:a="http://schemas.openxmlformats.org/drawingml/2006/main">
              <a:ext uri="{FF2B5EF4-FFF2-40B4-BE49-F238E27FC236}">
                <a16:creationId xmlns:a16="http://schemas.microsoft.com/office/drawing/2014/main" id="{FB45A303-DCBA-455F-86B3-2A0FDD2B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91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ctr"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눈 뜨기와 파동</a:t>
            </a:r>
          </a:p>
        </p:txBody>
      </p:sp>
      <p:sp>
        <p:nvSpPr>
          <p:cNvPr id="18" name="states-text-10">
            <a:extLst xmlns:a="http://schemas.openxmlformats.org/drawingml/2006/main">
              <a:ext uri="{FF2B5EF4-FFF2-40B4-BE49-F238E27FC236}">
                <a16:creationId xmlns:a16="http://schemas.microsoft.com/office/drawing/2014/main" id="{2C103412-6C6D-465A-8131-06AEC0D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91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ctr"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빨간 점</a:t>
            </a:r>
          </a:p>
        </p:txBody>
      </p:sp>
      <p:sp>
        <p:nvSpPr>
          <p:cNvPr id="19" name="states-text-11">
            <a:extLst xmlns:a="http://schemas.openxmlformats.org/drawingml/2006/main">
              <a:ext uri="{FF2B5EF4-FFF2-40B4-BE49-F238E27FC236}">
                <a16:creationId xmlns:a16="http://schemas.microsoft.com/office/drawing/2014/main" id="{F75E11F0-215F-4DFB-8651-F8E6DF4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911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ctr"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파동과 빨간 점</a:t>
            </a:r>
          </a:p>
        </p:txBody>
      </p:sp>
      <p:sp>
        <p:nvSpPr>
          <p:cNvPr id="20" name="states-text-12">
            <a:extLst xmlns:a="http://schemas.openxmlformats.org/drawingml/2006/main">
              <a:ext uri="{FF2B5EF4-FFF2-40B4-BE49-F238E27FC236}">
                <a16:creationId xmlns:a16="http://schemas.microsoft.com/office/drawing/2014/main" id="{508B75D0-2561-4F88-ABAE-6773842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48375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18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기본형 4종과 동물형 12종을 하나의 앱에서 선택할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89997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84B4E-FC2B-4B55-A4BD-38E2A204DE3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24925" y="237172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168"/>
            </a:solidFill>
            <a:tailEnd type="triangle" w="sm" len="sm"/>
          </a:ln>
        </p:spPr>
      </p:cxnSp>
      <p:sp>
        <p:nvSpPr>
          <p:cNvPr id="15" name="data-text-1">
            <a:extLst xmlns:a="http://schemas.openxmlformats.org/drawingml/2006/main">
              <a:ext uri="{FF2B5EF4-FFF2-40B4-BE49-F238E27FC236}">
                <a16:creationId xmlns:a16="http://schemas.microsoft.com/office/drawing/2014/main" id="{1C915FA9-E4A3-4085-8291-9DFAE91A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SUPABASE &amp; OPT-IN DATA</a:t>
            </a:r>
          </a:p>
        </p:txBody>
      </p:sp>
      <p:sp>
        <p:nvSpPr>
          <p:cNvPr id="2" name="data-text-2">
            <a:extLst xmlns:a="http://schemas.openxmlformats.org/drawingml/2006/main">
              <a:ext uri="{FF2B5EF4-FFF2-40B4-BE49-F238E27FC236}">
                <a16:creationId xmlns:a16="http://schemas.microsoft.com/office/drawing/2014/main" id="{46DB068F-DF8E-43BC-9441-1075DEC8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Supabase로 받아 보고 싶은 데이터</a:t>
            </a:r>
          </a:p>
        </p:txBody>
      </p:sp>
      <p:sp>
        <p:nvSpPr>
          <p:cNvPr id="3" name="data-text-3">
            <a:extLst xmlns:a="http://schemas.openxmlformats.org/drawingml/2006/main">
              <a:ext uri="{FF2B5EF4-FFF2-40B4-BE49-F238E27FC236}">
                <a16:creationId xmlns:a16="http://schemas.microsoft.com/office/drawing/2014/main" id="{9D6CE299-1CC3-4A60-A1BA-6A97D22E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" name="data-text-4">
            <a:extLst xmlns:a="http://schemas.openxmlformats.org/drawingml/2006/main">
              <a:ext uri="{FF2B5EF4-FFF2-40B4-BE49-F238E27FC236}">
                <a16:creationId xmlns:a16="http://schemas.microsoft.com/office/drawing/2014/main" id="{FCCE7637-3729-4696-87A3-8A1559FB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5619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>
            <a:defPPr algn="l">
              <a:def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기본형과 동물형 중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무엇을 더 고르는지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보고 싶었습니다.</a:t>
            </a:r>
          </a:p>
        </p:txBody>
      </p:sp>
      <p:sp>
        <p:nvSpPr>
          <p:cNvPr id="5" name="data-text-5">
            <a:extLst xmlns:a="http://schemas.openxmlformats.org/drawingml/2006/main">
              <a:ext uri="{FF2B5EF4-FFF2-40B4-BE49-F238E27FC236}">
                <a16:creationId xmlns:a16="http://schemas.microsoft.com/office/drawing/2014/main" id="{9D60E8B4-9483-452F-A6DA-19FB838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5562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344"/>
          </a:bodyPr>
          <a:lstStyle xmlns:a="http://schemas.openxmlformats.org/drawingml/2006/main">
            <a:defPPr algn="l"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교수님이 소개한 Supabase를 연결해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동의한 사용자의 앱 실행과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표시 선택 이벤트를 받아 보려 했습니다.</a:t>
            </a:r>
          </a:p>
        </p:txBody>
      </p:sp>
      <p:sp>
        <p:nvSpPr>
          <p:cNvPr id="6" name="flow-choose">
            <a:extLst xmlns:a="http://schemas.openxmlformats.org/drawingml/2006/main">
              <a:ext uri="{FF2B5EF4-FFF2-40B4-BE49-F238E27FC236}">
                <a16:creationId xmlns:a16="http://schemas.microsoft.com/office/drawing/2014/main" id="{8F5DB898-0379-4092-90FB-6960828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33575"/>
            <a:ext cx="2066925" cy="87630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5CFC5"/>
            </a:solidFill>
          </a:ln>
        </p:spPr>
      </p:sp>
      <p:sp>
        <p:nvSpPr>
          <p:cNvPr id="7" name="data-text-6">
            <a:extLst xmlns:a="http://schemas.openxmlformats.org/drawingml/2006/main">
              <a:ext uri="{FF2B5EF4-FFF2-40B4-BE49-F238E27FC236}">
                <a16:creationId xmlns:a16="http://schemas.microsoft.com/office/drawing/2014/main" id="{77993CC9-F5B9-4913-A68F-8565C770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2066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>
            <a:defPPr algn="ctr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사용자 동의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선택사항</a:t>
            </a:r>
          </a:p>
        </p:txBody>
      </p:sp>
      <p:sp>
        <p:nvSpPr>
          <p:cNvPr id="8" name="flow-receive">
            <a:extLst xmlns:a="http://schemas.openxmlformats.org/drawingml/2006/main">
              <a:ext uri="{FF2B5EF4-FFF2-40B4-BE49-F238E27FC236}">
                <a16:creationId xmlns:a16="http://schemas.microsoft.com/office/drawing/2014/main" id="{179BD5E1-9981-400D-AF01-0241ED5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33575"/>
            <a:ext cx="2066925" cy="876300"/>
          </a:xfrm>
          <a:prstGeom xmlns:a="http://schemas.openxmlformats.org/drawingml/2006/main" prst="roundRect">
            <a:avLst>
              <a:gd name="adj" fmla="val 13043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D5CFC5"/>
            </a:solidFill>
          </a:ln>
        </p:spPr>
      </p:sp>
      <p:sp>
        <p:nvSpPr>
          <p:cNvPr id="9" name="data-text-7">
            <a:extLst xmlns:a="http://schemas.openxmlformats.org/drawingml/2006/main">
              <a:ext uri="{FF2B5EF4-FFF2-40B4-BE49-F238E27FC236}">
                <a16:creationId xmlns:a16="http://schemas.microsoft.com/office/drawing/2014/main" id="{16AAD726-A1F3-45E2-A25D-7D30FB3A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43125"/>
            <a:ext cx="2066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58"/>
          </a:bodyPr>
          <a:lstStyle xmlns:a="http://schemas.openxmlformats.org/drawingml/2006/main">
            <a:defPPr algn="ctr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Supabase</a:t>
            </a:r>
          </a:p>
          <a:p xmlns:a="http://schemas.openxmlformats.org/drawingml/2006/main">
            <a:pPr algn="ctr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이벤트 수신</a:t>
            </a:r>
          </a:p>
        </p:txBody>
      </p:sp>
      <p:sp>
        <p:nvSpPr>
          <p:cNvPr id="10" name="data-text-8">
            <a:extLst xmlns:a="http://schemas.openxmlformats.org/drawingml/2006/main">
              <a:ext uri="{FF2B5EF4-FFF2-40B4-BE49-F238E27FC236}">
                <a16:creationId xmlns:a16="http://schemas.microsoft.com/office/drawing/2014/main" id="{FD48F44E-0D1B-4EA6-AAF7-5602924C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623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확인하려는 항목</a:t>
            </a:r>
          </a:p>
        </p:txBody>
      </p:sp>
      <p:sp>
        <p:nvSpPr>
          <p:cNvPr id="11" name="data-text-9">
            <a:extLst xmlns:a="http://schemas.openxmlformats.org/drawingml/2006/main">
              <a:ext uri="{FF2B5EF4-FFF2-40B4-BE49-F238E27FC236}">
                <a16:creationId xmlns:a16="http://schemas.microsoft.com/office/drawing/2014/main" id="{73E6612A-3849-4732-A1BC-8B5BCB8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47053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19"/>
          </a:bodyPr>
          <a:lstStyle xmlns:a="http://schemas.openxmlformats.org/drawingml/2006/main">
            <a:defPPr algn="l"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대략적인 고유 설치 수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설치별 마지막 표시 스타일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캐릭터 선택 기록</a:t>
            </a:r>
          </a:p>
        </p:txBody>
      </p:sp>
      <p:sp>
        <p:nvSpPr>
          <p:cNvPr id="12" name="data-text-10">
            <a:extLst xmlns:a="http://schemas.openxmlformats.org/drawingml/2006/main">
              <a:ext uri="{FF2B5EF4-FFF2-40B4-BE49-F238E27FC236}">
                <a16:creationId xmlns:a16="http://schemas.microsoft.com/office/drawing/2014/main" id="{F51B111A-96A7-440B-AA9A-D5166F2A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10801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이름, 회의 정보, 마이크와 카메라 상태, 음성과 영상은 수집하지 않습니다.</a:t>
            </a:r>
          </a:p>
        </p:txBody>
      </p:sp>
      <p:sp>
        <p:nvSpPr>
          <p:cNvPr id="13" name="data-text-11">
            <a:extLst xmlns:a="http://schemas.openxmlformats.org/drawingml/2006/main">
              <a:ext uri="{FF2B5EF4-FFF2-40B4-BE49-F238E27FC236}">
                <a16:creationId xmlns:a16="http://schemas.microsoft.com/office/drawing/2014/main" id="{B9EAFFEB-B997-4197-85A8-DA3DA23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79d3ba0c22bc410f"/>
              </a:rPr>
              <a:t>데이터 구조 확인</a:t>
            </a:r>
          </a:p>
        </p:txBody>
      </p:sp>
    </p:spTree>
    <p:extLst>
      <p:ext uri="{BB962C8B-B14F-4D97-AF65-F5344CB8AC3E}">
        <p14:creationId xmlns:p14="http://schemas.microsoft.com/office/powerpoint/2010/main" val="171032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1D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nsights-text-1">
            <a:extLst xmlns:a="http://schemas.openxmlformats.org/drawingml/2006/main">
              <a:ext uri="{FF2B5EF4-FFF2-40B4-BE49-F238E27FC236}">
                <a16:creationId xmlns:a16="http://schemas.microsoft.com/office/drawing/2014/main" id="{69116234-13D0-4A25-B313-3CE1E6B0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PERSONAL EXPERIENCE &amp; NEXT STEP</a:t>
            </a:r>
          </a:p>
        </p:txBody>
      </p:sp>
      <p:sp>
        <p:nvSpPr>
          <p:cNvPr id="2" name="insights-text-2">
            <a:extLst xmlns:a="http://schemas.openxmlformats.org/drawingml/2006/main">
              <a:ext uri="{FF2B5EF4-FFF2-40B4-BE49-F238E27FC236}">
                <a16:creationId xmlns:a16="http://schemas.microsoft.com/office/drawing/2014/main" id="{9E05A501-AA15-4898-933F-FA294778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사용해 보며 느낀 점</a:t>
            </a:r>
          </a:p>
        </p:txBody>
      </p:sp>
      <p:sp>
        <p:nvSpPr>
          <p:cNvPr id="3" name="insights-text-3">
            <a:extLst xmlns:a="http://schemas.openxmlformats.org/drawingml/2006/main">
              <a:ext uri="{FF2B5EF4-FFF2-40B4-BE49-F238E27FC236}">
                <a16:creationId xmlns:a16="http://schemas.microsoft.com/office/drawing/2014/main" id="{DF161B08-EC62-4CC7-92E0-A19EDBA7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4" name="insights-text-4">
            <a:extLst xmlns:a="http://schemas.openxmlformats.org/drawingml/2006/main">
              <a:ext uri="{FF2B5EF4-FFF2-40B4-BE49-F238E27FC236}">
                <a16:creationId xmlns:a16="http://schemas.microsoft.com/office/drawing/2014/main" id="{D5FB148E-CB66-4EAE-B632-3CF5F212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91"/>
          </a:bodyPr>
          <a:lstStyle xmlns:a="http://schemas.openxmlformats.org/drawingml/2006/main">
            <a:defPPr algn="l">
              <a:def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insights-text-5">
            <a:extLst xmlns:a="http://schemas.openxmlformats.org/drawingml/2006/main">
              <a:ext uri="{FF2B5EF4-FFF2-40B4-BE49-F238E27FC236}">
                <a16:creationId xmlns:a16="http://schemas.microsoft.com/office/drawing/2014/main" id="{A00A9C3D-6F54-4A77-B1CC-40163EF7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95450"/>
            <a:ext cx="995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4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귀여운 펫으로 시작했지만,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47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저에게는 기본형이 더 직관적이었습니다.</a:t>
            </a:r>
          </a:p>
        </p:txBody>
      </p:sp>
      <p:sp>
        <p:nvSpPr>
          <p:cNvPr id="6" name="insights-text-6">
            <a:extLst xmlns:a="http://schemas.openxmlformats.org/drawingml/2006/main">
              <a:ext uri="{FF2B5EF4-FFF2-40B4-BE49-F238E27FC236}">
                <a16:creationId xmlns:a16="http://schemas.microsoft.com/office/drawing/2014/main" id="{659B238F-B989-4641-B50A-3B8D8EFB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7655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>
            <a:defPPr algn="l">
              <a:defRPr sz="157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7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현재도 기본형을 켜두고 사용하고 있습니다.</a:t>
            </a:r>
          </a:p>
        </p:txBody>
      </p:sp>
      <p:sp>
        <p:nvSpPr>
          <p:cNvPr id="7" name="insights-text-7">
            <a:extLst xmlns:a="http://schemas.openxmlformats.org/drawingml/2006/main">
              <a:ext uri="{FF2B5EF4-FFF2-40B4-BE49-F238E27FC236}">
                <a16:creationId xmlns:a16="http://schemas.microsoft.com/office/drawing/2014/main" id="{70D34016-41DA-48C4-9543-8A9727F5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991"/>
          </a:bodyPr>
          <a:lstStyle xmlns:a="http://schemas.openxmlformats.org/drawingml/2006/main">
            <a:defPPr algn="l">
              <a:def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8" name="insights-text-8">
            <a:extLst xmlns:a="http://schemas.openxmlformats.org/drawingml/2006/main">
              <a:ext uri="{FF2B5EF4-FFF2-40B4-BE49-F238E27FC236}">
                <a16:creationId xmlns:a16="http://schemas.microsoft.com/office/drawing/2014/main" id="{BBA1CD26-1451-4162-A2C9-7755B1A0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86150"/>
            <a:ext cx="9953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32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오늘 수업에서 사용해 보니,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325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저에게 필요한 도구라고 느꼈습니다.</a:t>
            </a:r>
          </a:p>
        </p:txBody>
      </p:sp>
      <p:sp>
        <p:nvSpPr>
          <p:cNvPr id="9" name="insights-text-9">
            <a:extLst xmlns:a="http://schemas.openxmlformats.org/drawingml/2006/main">
              <a:ext uri="{FF2B5EF4-FFF2-40B4-BE49-F238E27FC236}">
                <a16:creationId xmlns:a16="http://schemas.microsoft.com/office/drawing/2014/main" id="{D6E18C63-A38F-4456-9436-39C5A965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다음에 해보고 싶은 실험</a:t>
            </a:r>
          </a:p>
        </p:txBody>
      </p:sp>
      <p:sp>
        <p:nvSpPr>
          <p:cNvPr id="10" name="insights-text-10">
            <a:extLst xmlns:a="http://schemas.openxmlformats.org/drawingml/2006/main">
              <a:ext uri="{FF2B5EF4-FFF2-40B4-BE49-F238E27FC236}">
                <a16:creationId xmlns:a16="http://schemas.microsoft.com/office/drawing/2014/main" id="{1759A230-64DF-4CED-9F75-DC633AC1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71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9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표시기에서 바로 Zoom 마이크와 카메라를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950" b="1">
                <a:solidFill>
                  <a:srgbClr val="F6F1E8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F6F1E8"/>
                </a:solidFill>
                <a:latin typeface="Pretendard"/>
                <a:ea typeface="Pretendard"/>
                <a:cs typeface="Pretendard"/>
              </a:rPr>
              <a:t>켜고 끌 수 있는지 실험해 보고자 합니다.</a:t>
            </a:r>
          </a:p>
        </p:txBody>
      </p:sp>
      <p:sp>
        <p:nvSpPr>
          <p:cNvPr id="11" name="insights-text-11">
            <a:extLst xmlns:a="http://schemas.openxmlformats.org/drawingml/2006/main">
              <a:ext uri="{FF2B5EF4-FFF2-40B4-BE49-F238E27FC236}">
                <a16:creationId xmlns:a16="http://schemas.microsoft.com/office/drawing/2014/main" id="{785D5CD9-E807-4A89-9364-60649F5D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952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>
            <a:defPPr algn="l">
              <a:defRPr sz="112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25" b="0">
                <a:solidFill>
                  <a:srgbClr val="AAA3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AAA398"/>
                </a:solidFill>
                <a:latin typeface="Pretendard"/>
                <a:ea typeface="Pretendard"/>
                <a:cs typeface="Pretendard"/>
              </a:rPr>
              <a:t>아직 구현하지 않은 다음 실험입니다.</a:t>
            </a:r>
          </a:p>
        </p:txBody>
      </p:sp>
    </p:spTree>
    <p:extLst>
      <p:ext uri="{BB962C8B-B14F-4D97-AF65-F5344CB8AC3E}">
        <p14:creationId xmlns:p14="http://schemas.microsoft.com/office/powerpoint/2010/main" val="429158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hare-text-1">
            <a:extLst xmlns:a="http://schemas.openxmlformats.org/drawingml/2006/main">
              <a:ext uri="{FF2B5EF4-FFF2-40B4-BE49-F238E27FC236}">
                <a16:creationId xmlns:a16="http://schemas.microsoft.com/office/drawing/2014/main" id="{A00972A0-C1E1-4288-8C83-E0AA759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DEMO &amp; LINKS</a:t>
            </a:r>
          </a:p>
        </p:txBody>
      </p:sp>
      <p:sp>
        <p:nvSpPr>
          <p:cNvPr id="2" name="share-text-2">
            <a:extLst xmlns:a="http://schemas.openxmlformats.org/drawingml/2006/main">
              <a:ext uri="{FF2B5EF4-FFF2-40B4-BE49-F238E27FC236}">
                <a16:creationId xmlns:a16="http://schemas.microsoft.com/office/drawing/2014/main" id="{DDC43773-EB8D-4A57-AAF3-D5CAB35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1E1D1A"/>
                </a:solidFill>
                <a:latin typeface="Pretendard"/>
                <a:ea typeface="Pretendard"/>
                <a:cs typeface="Pretendard"/>
              </a:rPr>
              <a:t>시연과 공유</a:t>
            </a:r>
          </a:p>
        </p:txBody>
      </p:sp>
      <p:sp>
        <p:nvSpPr>
          <p:cNvPr id="3" name="share-text-3">
            <a:extLst xmlns:a="http://schemas.openxmlformats.org/drawingml/2006/main">
              <a:ext uri="{FF2B5EF4-FFF2-40B4-BE49-F238E27FC236}">
                <a16:creationId xmlns:a16="http://schemas.microsoft.com/office/drawing/2014/main" id="{00FF2610-6C4A-4E20-9907-9330736E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r">
              <a:lnSpc>
                <a:spcPct val="140000"/>
              </a:lnSpc>
              <a:buNone/>
              <a:def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8907A-C4DB-471B-80D8-F3AB24934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e630c809a49a4"/>
          <a:stretch xmlns:a="http://schemas.openxmlformats.org/drawingml/2006/main"/>
        </p:blipFill>
        <p:spPr>
          <a:xfrm xmlns:a="http://schemas.openxmlformats.org/drawingml/2006/main">
            <a:off x="1539039" y="1828800"/>
            <a:ext cx="1970171" cy="20002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569AD-AC99-4F76-A1A8-F6B24996B9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cd79b76554e82"/>
          <a:stretch xmlns:a="http://schemas.openxmlformats.org/drawingml/2006/main"/>
        </p:blipFill>
        <p:spPr>
          <a:xfrm xmlns:a="http://schemas.openxmlformats.org/drawingml/2006/main">
            <a:off x="5758614" y="1828800"/>
            <a:ext cx="1970171" cy="2000250"/>
          </a:xfrm>
          <a:prstGeom xmlns:a="http://schemas.openxmlformats.org/drawingml/2006/main" prst="rect">
            <a:avLst/>
          </a:prstGeom>
        </p:spPr>
      </p:pic>
      <p:sp>
        <p:nvSpPr>
          <p:cNvPr id="6" name="share-text-4">
            <a:extLst xmlns:a="http://schemas.openxmlformats.org/drawingml/2006/main">
              <a:ext uri="{FF2B5EF4-FFF2-40B4-BE49-F238E27FC236}">
                <a16:creationId xmlns:a16="http://schemas.microsoft.com/office/drawing/2014/main" id="{8DCFBCDC-BB54-48EA-9D89-1EA46AE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379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8405bffa3bc84c1e"/>
              </a:rPr>
              <a:t>기본형 초기 데모 보기</a:t>
            </a:r>
          </a:p>
        </p:txBody>
      </p:sp>
      <p:sp>
        <p:nvSpPr>
          <p:cNvPr id="7" name="share-text-5">
            <a:extLst xmlns:a="http://schemas.openxmlformats.org/drawingml/2006/main">
              <a:ext uri="{FF2B5EF4-FFF2-40B4-BE49-F238E27FC236}">
                <a16:creationId xmlns:a16="http://schemas.microsoft.com/office/drawing/2014/main" id="{73201550-6815-4DB3-A19B-BE0D4CE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086225"/>
            <a:ext cx="379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0507b3f6cf8444bd"/>
              </a:rPr>
              <a:t>동물형 초기 데모 보기</a:t>
            </a:r>
          </a:p>
        </p:txBody>
      </p:sp>
      <p:sp>
        <p:nvSpPr>
          <p:cNvPr id="8" name="share-text-6">
            <a:extLst xmlns:a="http://schemas.openxmlformats.org/drawingml/2006/main">
              <a:ext uri="{FF2B5EF4-FFF2-40B4-BE49-F238E27FC236}">
                <a16:creationId xmlns:a16="http://schemas.microsoft.com/office/drawing/2014/main" id="{D067EE81-2E9D-48AC-AD88-B596E63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8172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777168"/>
                </a:solidFill>
                <a:latin typeface="Pretendard"/>
                <a:ea typeface="Pretendard"/>
                <a:cs typeface="Pretendard"/>
              </a:rPr>
              <a:t>초기 시각 데모 영상이며, 실제 Zoom 감지는 설치된 앱으로 시연합니다.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7E908-BF35-431D-A955-5BBFF258F9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64ff996634772"/>
          <a:stretch xmlns:a="http://schemas.openxmlformats.org/drawingml/2006/main"/>
        </p:blipFill>
        <p:spPr>
          <a:xfrm xmlns:a="http://schemas.openxmlformats.org/drawingml/2006/main">
            <a:off x="9658350" y="2105025"/>
            <a:ext cx="1657350" cy="1657350"/>
          </a:xfrm>
          <a:prstGeom xmlns:a="http://schemas.openxmlformats.org/drawingml/2006/main" prst="rect">
            <a:avLst/>
          </a:prstGeom>
        </p:spPr>
      </p:pic>
      <p:sp>
        <p:nvSpPr>
          <p:cNvPr id="10" name="share-text-7">
            <a:extLst xmlns:a="http://schemas.openxmlformats.org/drawingml/2006/main">
              <a:ext uri="{FF2B5EF4-FFF2-40B4-BE49-F238E27FC236}">
                <a16:creationId xmlns:a16="http://schemas.microsoft.com/office/drawing/2014/main" id="{331E453E-92E0-424C-9A87-DA1828A1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86225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ctr">
              <a:lnSpc>
                <a:spcPct val="140000"/>
              </a:lnSpc>
              <a:buNone/>
              <a:def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a8c0e7f1a3684bfb"/>
              </a:rPr>
              <a:t>앱 다운로드</a:t>
            </a:r>
          </a:p>
        </p:txBody>
      </p:sp>
      <p:sp>
        <p:nvSpPr>
          <p:cNvPr id="11" name="share-text-8">
            <a:extLst xmlns:a="http://schemas.openxmlformats.org/drawingml/2006/main">
              <a:ext uri="{FF2B5EF4-FFF2-40B4-BE49-F238E27FC236}">
                <a16:creationId xmlns:a16="http://schemas.microsoft.com/office/drawing/2014/main" id="{0631E33D-8D4D-4510-8F83-3BC2807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71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711b71c3a82b4628"/>
              </a:rPr>
              <a:t>GitHub</a:t>
            </a:r>
          </a:p>
        </p:txBody>
      </p:sp>
      <p:sp>
        <p:nvSpPr>
          <p:cNvPr id="12" name="share-text-9">
            <a:extLst xmlns:a="http://schemas.openxmlformats.org/drawingml/2006/main">
              <a:ext uri="{FF2B5EF4-FFF2-40B4-BE49-F238E27FC236}">
                <a16:creationId xmlns:a16="http://schemas.microsoft.com/office/drawing/2014/main" id="{C13ECE93-86CE-4E74-8518-D39B22B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9fb0c5ec95854b09"/>
              </a:rPr>
              <a:t>최신 Release</a:t>
            </a:r>
          </a:p>
        </p:txBody>
      </p:sp>
      <p:sp>
        <p:nvSpPr>
          <p:cNvPr id="13" name="share-text-10">
            <a:extLst xmlns:a="http://schemas.openxmlformats.org/drawingml/2006/main">
              <a:ext uri="{FF2B5EF4-FFF2-40B4-BE49-F238E27FC236}">
                <a16:creationId xmlns:a16="http://schemas.microsoft.com/office/drawing/2014/main" id="{26D3790C-2393-4AA7-9082-0E8B843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772150"/>
            <a:ext cx="219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E1D1A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b809c104d61e4546"/>
              </a:rPr>
              <a:t>Supabase</a:t>
            </a:r>
          </a:p>
        </p:txBody>
      </p:sp>
    </p:spTree>
    <p:extLst>
      <p:ext uri="{BB962C8B-B14F-4D97-AF65-F5344CB8AC3E}">
        <p14:creationId xmlns:p14="http://schemas.microsoft.com/office/powerpoint/2010/main" val="1310014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2026-10-12T12:02:56.1980000Z</dcterms:created>
  <dcterms:modified xsi:type="dcterms:W3CDTF">2026-10-12T12:02:56.1980000Z</dcterms:modified>
</coreProperties>
</file>